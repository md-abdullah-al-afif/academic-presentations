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our group will present our project for Information System Design and Software Engineering. Our topic is the System Analysis and Design of Daraz Bangladesh. We are Group 05 -- I am Abdullah Al Afif, and with me are Ajijul Hakim Sarkar, Aronno Chakrabartti, and Ishrat Jahan Sharmin.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report has four chapters, and each one of us will present one chapter. I will start with Chapter 1, Recognition of Need. Then Ajijul will cover Chapter 2, our Feasibility Study. After that, Aronno will present Chapter 3, our Analysis. And Ishrat will close with Chapter 4, our Design, along with our final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Chapter 1. Daraz Bangladesh is one of the biggest online shopping platforms in the country. It is a marketplace, which means it does not sell its own products -- it connects thousands of sellers with millions of buyers. Daraz is owned by the Alibaba Group and started operating in Bangladesh in 2015. We chose Daraz because it is large, well known, and a lot of information about it is already public, so we can study its real business process from start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can improve any system, we first need to understand what is going wrong. We studied customer reviews and news reports and found five repeating problems: product authenticity (fake or wrong items), refund and return delays, account security and fraud, delivery service issues, and weak customer support. These five problems are the foundation of our whole project. Now I hand it over to Ajijul.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Afif. Once we know the problems, the next question is: can we actually fix them? This is an initial feasibility study, checking every problem against five areas: Technical (does the technology exist), Economic (do benefits outweigh cost), Operational (does it fit how Daraz works), Legal (does it follow the law), and Schedule (can it be built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through all five problems using these checks, and the good news is none of them are impossible. Refund/return, delivery, and customer support are easier and faster to fix since they build on tools Daraz already has. Product authenticity and account security need more new tools, like fraud detection, but are still realistic with proper planning. Now Aronno will explain how we studied the system in more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Ajijul. In Chapter 3 our goal was to gather real information so our recommendations are based on facts. We used four methods: reviewing Daraz's own literature and procedures and comparing with other platforms; on-site observation by using the app and website ourselves; interviews -- we called Daraz's real customer care helpline and also spoke with a seller, a customer, and a delivery rider; and questionnaires for customers, sellers, and app users, matched against public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issues and refund delays were the two biggest complaint categories, followed by product authenticity, customer support, and account security. We also mapped an 8-process Data Flow Diagram of the existing system, from browsing to delivery and returns, showing exactly where each problem occurs. Our cost-benefit analysis shows Daraz would need about 11,429 successful order interactions to pay back the cost of these improvements -- realistic given Daraz's huge daily order volume. Now Ishrat will show our proposed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Aronno. In Chapter 4 we moved from understanding the problem to designing a solution, and built two candidate systems to compare. Candidate 1 is comprehensive and automated: full seller document verification, a live trust score, a fraud risk-scoring engine with OTP, and a guaranteed support escalation deadline. Candidate 2 is lighter and lower-cost. A weighted scoring matrix showed Candidate 1 scores clearly higher, so it is our recommended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design adds five new processes: seller verification with a trust score, fraud detection with OTP at checkout, delivery proof capture, a digital return receipt, and automatic support ticket escalation. We designed a full database to support this, with new fields for trust scores and delivery proof, plus four new forms: seller verification, OTP security, return/refund, and a delivery proof form for the rider app. Together these directly solve the five problems from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conclude, our full report -- every chapter, chart, diagram, and form -- is also presented on a live website: daraz-sad.vercel.app. Feel free to explore it after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Daraz's core business model is solid, and ordinary orders already work well. The real gap is in what happens when something goes wrong -- a fake product, a hacked account, a disputed delivery, or a stuck refund. Our proposed system directly targets that gap, giving Daraz stronger seller trust, safer accounts, clearer deliveries, and faster refunds.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end of our presentation. Thank you very much for listening. We are Group 05, and we would be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F"/>
        </a:solidFill>
      </p:bgPr>
    </p:bg>
    <p:spTree>
      <p:nvGrpSpPr>
        <p:cNvPr id="1" name=""/>
        <p:cNvGrpSpPr/>
        <p:nvPr/>
      </p:nvGrpSpPr>
      <p:grpSpPr>
        <a:xfrm>
          <a:off x="0" y="0"/>
          <a:ext cx="0" cy="0"/>
          <a:chOff x="0" y="0"/>
          <a:chExt cx="0" cy="0"/>
        </a:xfrm>
      </p:grpSpPr>
      <p:sp>
        <p:nvSpPr>
          <p:cNvPr id="2" name="Shape 0"/>
          <p:cNvSpPr/>
          <p:nvPr/>
        </p:nvSpPr>
        <p:spPr>
          <a:xfrm>
            <a:off x="8778240" y="-2377440"/>
            <a:ext cx="6400800" cy="6400800"/>
          </a:xfrm>
          <a:prstGeom prst="ellipse">
            <a:avLst/>
          </a:prstGeom>
          <a:solidFill>
            <a:srgbClr val="212F52"/>
          </a:solidFill>
          <a:ln/>
        </p:spPr>
      </p:sp>
      <p:sp>
        <p:nvSpPr>
          <p:cNvPr id="3" name="Shape 1"/>
          <p:cNvSpPr/>
          <p:nvPr/>
        </p:nvSpPr>
        <p:spPr>
          <a:xfrm>
            <a:off x="9692640" y="-1554480"/>
            <a:ext cx="4206240" cy="4206240"/>
          </a:xfrm>
          <a:prstGeom prst="ellipse">
            <a:avLst/>
          </a:prstGeom>
          <a:solidFill>
            <a:srgbClr val="C24405"/>
          </a:solidFill>
          <a:ln/>
        </p:spPr>
      </p:sp>
      <p:sp>
        <p:nvSpPr>
          <p:cNvPr id="4" name="Text 2"/>
          <p:cNvSpPr/>
          <p:nvPr/>
        </p:nvSpPr>
        <p:spPr>
          <a:xfrm>
            <a:off x="640080" y="1417320"/>
            <a:ext cx="9601200" cy="365760"/>
          </a:xfrm>
          <a:prstGeom prst="rect">
            <a:avLst/>
          </a:prstGeom>
          <a:noFill/>
          <a:ln/>
        </p:spPr>
        <p:txBody>
          <a:bodyPr wrap="square" lIns="0" tIns="0" rIns="0" bIns="0" rtlCol="0" anchor="ctr"/>
          <a:lstStyle/>
          <a:p>
            <a:pPr indent="0" marL="0">
              <a:buNone/>
            </a:pPr>
            <a:r>
              <a:rPr lang="en-US" sz="1400" b="1" spc="150" kern="0" dirty="0">
                <a:solidFill>
                  <a:srgbClr val="F85606"/>
                </a:solidFill>
                <a:latin typeface="Calibri" pitchFamily="34" charset="0"/>
                <a:ea typeface="Calibri" pitchFamily="34" charset="-122"/>
                <a:cs typeface="Calibri" pitchFamily="34" charset="-120"/>
              </a:rPr>
              <a:t>CSE345 · INFORMATION SYSTEM DESIGN &amp; SOFTWARE ENGINEERING</a:t>
            </a:r>
            <a:endParaRPr lang="en-US" sz="1400" dirty="0"/>
          </a:p>
        </p:txBody>
      </p:sp>
      <p:sp>
        <p:nvSpPr>
          <p:cNvPr id="5" name="Text 3"/>
          <p:cNvSpPr/>
          <p:nvPr/>
        </p:nvSpPr>
        <p:spPr>
          <a:xfrm>
            <a:off x="640080" y="1874520"/>
            <a:ext cx="969264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System Analysis and Design</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of Daraz Bangladesh</a:t>
            </a:r>
            <a:endParaRPr lang="en-US" sz="4400" dirty="0"/>
          </a:p>
        </p:txBody>
      </p:sp>
      <p:sp>
        <p:nvSpPr>
          <p:cNvPr id="6" name="Text 4"/>
          <p:cNvSpPr/>
          <p:nvPr/>
        </p:nvSpPr>
        <p:spPr>
          <a:xfrm>
            <a:off x="658368" y="3611880"/>
            <a:ext cx="8778240" cy="548640"/>
          </a:xfrm>
          <a:prstGeom prst="rect">
            <a:avLst/>
          </a:prstGeom>
          <a:noFill/>
          <a:ln/>
        </p:spPr>
        <p:txBody>
          <a:bodyPr wrap="square" lIns="0" tIns="0" rIns="0" bIns="0" rtlCol="0" anchor="ctr"/>
          <a:lstStyle/>
          <a:p>
            <a:pPr indent="0" marL="0">
              <a:buNone/>
            </a:pPr>
            <a:r>
              <a:rPr lang="en-US" sz="1500" i="1" dirty="0">
                <a:solidFill>
                  <a:srgbClr val="AAB4C8"/>
                </a:solidFill>
                <a:latin typeface="Calibri" pitchFamily="34" charset="0"/>
                <a:ea typeface="Calibri" pitchFamily="34" charset="-122"/>
                <a:cs typeface="Calibri" pitchFamily="34" charset="-120"/>
              </a:rPr>
              <a:t>Studying a real e-commerce platform to find its biggest problems — and designing a better system to fix them.</a:t>
            </a:r>
            <a:endParaRPr lang="en-US" sz="1500" dirty="0"/>
          </a:p>
        </p:txBody>
      </p:sp>
      <p:sp>
        <p:nvSpPr>
          <p:cNvPr id="7" name="Shape 5"/>
          <p:cNvSpPr/>
          <p:nvPr/>
        </p:nvSpPr>
        <p:spPr>
          <a:xfrm>
            <a:off x="640080" y="4343400"/>
            <a:ext cx="10881360" cy="1417320"/>
          </a:xfrm>
          <a:prstGeom prst="rect">
            <a:avLst>
              <a:gd name="adj" fmla="val 5161"/>
            </a:avLst>
          </a:prstGeom>
          <a:solidFill>
            <a:srgbClr val="212F52"/>
          </a:solidFill>
          <a:ln/>
        </p:spPr>
      </p:sp>
      <p:sp>
        <p:nvSpPr>
          <p:cNvPr id="8" name="Text 6"/>
          <p:cNvSpPr/>
          <p:nvPr/>
        </p:nvSpPr>
        <p:spPr>
          <a:xfrm>
            <a:off x="868680" y="4480560"/>
            <a:ext cx="2446020" cy="274320"/>
          </a:xfrm>
          <a:prstGeom prst="rect">
            <a:avLst/>
          </a:prstGeom>
          <a:noFill/>
          <a:ln/>
        </p:spPr>
        <p:txBody>
          <a:bodyPr wrap="square" lIns="0" tIns="0" rIns="0" bIns="0" rtlCol="0" anchor="ctr"/>
          <a:lstStyle/>
          <a:p>
            <a:pPr indent="0" marL="0">
              <a:buNone/>
            </a:pPr>
            <a:r>
              <a:rPr lang="en-US" sz="900" b="1" dirty="0">
                <a:solidFill>
                  <a:srgbClr val="F85606"/>
                </a:solidFill>
                <a:latin typeface="Calibri" pitchFamily="34" charset="0"/>
                <a:ea typeface="Calibri" pitchFamily="34" charset="-122"/>
                <a:cs typeface="Calibri" pitchFamily="34" charset="-120"/>
              </a:rPr>
              <a:t>GROUP 05</a:t>
            </a:r>
            <a:endParaRPr lang="en-US" sz="900" dirty="0"/>
          </a:p>
        </p:txBody>
      </p:sp>
      <p:sp>
        <p:nvSpPr>
          <p:cNvPr id="9" name="Text 7"/>
          <p:cNvSpPr/>
          <p:nvPr/>
        </p:nvSpPr>
        <p:spPr>
          <a:xfrm>
            <a:off x="868680" y="4754880"/>
            <a:ext cx="2446020" cy="6858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Md. Abdullah Al Afif</a:t>
            </a:r>
            <a:endParaRPr lang="en-US" sz="1350" dirty="0"/>
          </a:p>
        </p:txBody>
      </p:sp>
      <p:sp>
        <p:nvSpPr>
          <p:cNvPr id="10" name="Text 8"/>
          <p:cNvSpPr/>
          <p:nvPr/>
        </p:nvSpPr>
        <p:spPr>
          <a:xfrm>
            <a:off x="3589020" y="4480560"/>
            <a:ext cx="2446020" cy="274320"/>
          </a:xfrm>
          <a:prstGeom prst="rect">
            <a:avLst/>
          </a:prstGeom>
          <a:noFill/>
          <a:ln/>
        </p:spPr>
        <p:txBody>
          <a:bodyPr wrap="square" lIns="0" tIns="0" rIns="0" bIns="0" rtlCol="0" anchor="ctr"/>
          <a:lstStyle/>
          <a:p>
            <a:pPr indent="0" marL="0">
              <a:buNone/>
            </a:pPr>
            <a:r>
              <a:rPr lang="en-US" sz="900" b="1" dirty="0">
                <a:solidFill>
                  <a:srgbClr val="F85606"/>
                </a:solidFill>
                <a:latin typeface="Calibri" pitchFamily="34" charset="0"/>
                <a:ea typeface="Calibri" pitchFamily="34" charset="-122"/>
                <a:cs typeface="Calibri" pitchFamily="34" charset="-120"/>
              </a:rPr>
              <a:t>GROUP 05</a:t>
            </a:r>
            <a:endParaRPr lang="en-US" sz="900" dirty="0"/>
          </a:p>
        </p:txBody>
      </p:sp>
      <p:sp>
        <p:nvSpPr>
          <p:cNvPr id="11" name="Text 9"/>
          <p:cNvSpPr/>
          <p:nvPr/>
        </p:nvSpPr>
        <p:spPr>
          <a:xfrm>
            <a:off x="3589020" y="4754880"/>
            <a:ext cx="2446020" cy="6858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Md. Ajijul Hakim Sarkar</a:t>
            </a:r>
            <a:endParaRPr lang="en-US" sz="1350" dirty="0"/>
          </a:p>
        </p:txBody>
      </p:sp>
      <p:sp>
        <p:nvSpPr>
          <p:cNvPr id="12" name="Text 10"/>
          <p:cNvSpPr/>
          <p:nvPr/>
        </p:nvSpPr>
        <p:spPr>
          <a:xfrm>
            <a:off x="6309360" y="4480560"/>
            <a:ext cx="2446020" cy="274320"/>
          </a:xfrm>
          <a:prstGeom prst="rect">
            <a:avLst/>
          </a:prstGeom>
          <a:noFill/>
          <a:ln/>
        </p:spPr>
        <p:txBody>
          <a:bodyPr wrap="square" lIns="0" tIns="0" rIns="0" bIns="0" rtlCol="0" anchor="ctr"/>
          <a:lstStyle/>
          <a:p>
            <a:pPr indent="0" marL="0">
              <a:buNone/>
            </a:pPr>
            <a:r>
              <a:rPr lang="en-US" sz="900" b="1" dirty="0">
                <a:solidFill>
                  <a:srgbClr val="F85606"/>
                </a:solidFill>
                <a:latin typeface="Calibri" pitchFamily="34" charset="0"/>
                <a:ea typeface="Calibri" pitchFamily="34" charset="-122"/>
                <a:cs typeface="Calibri" pitchFamily="34" charset="-120"/>
              </a:rPr>
              <a:t>GROUP 05</a:t>
            </a:r>
            <a:endParaRPr lang="en-US" sz="900" dirty="0"/>
          </a:p>
        </p:txBody>
      </p:sp>
      <p:sp>
        <p:nvSpPr>
          <p:cNvPr id="13" name="Text 11"/>
          <p:cNvSpPr/>
          <p:nvPr/>
        </p:nvSpPr>
        <p:spPr>
          <a:xfrm>
            <a:off x="6309360" y="4754880"/>
            <a:ext cx="2446020" cy="6858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Aronno Chakrabartti</a:t>
            </a:r>
            <a:endParaRPr lang="en-US" sz="1350" dirty="0"/>
          </a:p>
        </p:txBody>
      </p:sp>
      <p:sp>
        <p:nvSpPr>
          <p:cNvPr id="14" name="Text 12"/>
          <p:cNvSpPr/>
          <p:nvPr/>
        </p:nvSpPr>
        <p:spPr>
          <a:xfrm>
            <a:off x="9029700" y="4480560"/>
            <a:ext cx="2446020" cy="274320"/>
          </a:xfrm>
          <a:prstGeom prst="rect">
            <a:avLst/>
          </a:prstGeom>
          <a:noFill/>
          <a:ln/>
        </p:spPr>
        <p:txBody>
          <a:bodyPr wrap="square" lIns="0" tIns="0" rIns="0" bIns="0" rtlCol="0" anchor="ctr"/>
          <a:lstStyle/>
          <a:p>
            <a:pPr indent="0" marL="0">
              <a:buNone/>
            </a:pPr>
            <a:r>
              <a:rPr lang="en-US" sz="900" b="1" dirty="0">
                <a:solidFill>
                  <a:srgbClr val="F85606"/>
                </a:solidFill>
                <a:latin typeface="Calibri" pitchFamily="34" charset="0"/>
                <a:ea typeface="Calibri" pitchFamily="34" charset="-122"/>
                <a:cs typeface="Calibri" pitchFamily="34" charset="-120"/>
              </a:rPr>
              <a:t>GROUP 05</a:t>
            </a:r>
            <a:endParaRPr lang="en-US" sz="900" dirty="0"/>
          </a:p>
        </p:txBody>
      </p:sp>
      <p:sp>
        <p:nvSpPr>
          <p:cNvPr id="15" name="Text 13"/>
          <p:cNvSpPr/>
          <p:nvPr/>
        </p:nvSpPr>
        <p:spPr>
          <a:xfrm>
            <a:off x="9029700" y="4754880"/>
            <a:ext cx="2446020" cy="6858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Ishrat Jahan Sharmin</a:t>
            </a:r>
            <a:endParaRPr lang="en-US" sz="1350" dirty="0"/>
          </a:p>
        </p:txBody>
      </p:sp>
      <p:sp>
        <p:nvSpPr>
          <p:cNvPr id="16" name="Text 14"/>
          <p:cNvSpPr/>
          <p:nvPr/>
        </p:nvSpPr>
        <p:spPr>
          <a:xfrm>
            <a:off x="640080" y="5989320"/>
            <a:ext cx="6583680" cy="320040"/>
          </a:xfrm>
          <a:prstGeom prst="rect">
            <a:avLst/>
          </a:prstGeom>
          <a:noFill/>
          <a:ln/>
        </p:spPr>
        <p:txBody>
          <a:bodyPr wrap="square" lIns="0" tIns="0" rIns="0" bIns="0" rtlCol="0" anchor="ctr"/>
          <a:lstStyle/>
          <a:p>
            <a:pPr indent="0" marL="0">
              <a:buNone/>
            </a:pPr>
            <a:r>
              <a:rPr lang="en-US" sz="1200" dirty="0">
                <a:solidFill>
                  <a:srgbClr val="AAB4C8"/>
                </a:solidFill>
                <a:latin typeface="Calibri" pitchFamily="34" charset="0"/>
                <a:ea typeface="Calibri" pitchFamily="34" charset="-122"/>
                <a:cs typeface="Calibri" pitchFamily="34" charset="-120"/>
              </a:rPr>
              <a:t>Submitted to: Md. Tanbeer Jubaer, Lecturer, Dept. of CSE, SEU</a:t>
            </a:r>
            <a:endParaRPr lang="en-US" sz="1200" dirty="0"/>
          </a:p>
        </p:txBody>
      </p:sp>
      <p:sp>
        <p:nvSpPr>
          <p:cNvPr id="17" name="Text 15"/>
          <p:cNvSpPr/>
          <p:nvPr/>
        </p:nvSpPr>
        <p:spPr>
          <a:xfrm>
            <a:off x="7315200" y="5989320"/>
            <a:ext cx="4206240" cy="32004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20 September 2026</a:t>
            </a:r>
            <a:endParaRPr lang="en-US" sz="1200" dirty="0"/>
          </a:p>
        </p:txBody>
      </p:sp>
      <p:sp>
        <p:nvSpPr>
          <p:cNvPr id="18" name="Text 16"/>
          <p:cNvSpPr/>
          <p:nvPr/>
        </p:nvSpPr>
        <p:spPr>
          <a:xfrm>
            <a:off x="640080" y="6309360"/>
            <a:ext cx="10881360" cy="320040"/>
          </a:xfrm>
          <a:prstGeom prst="rect">
            <a:avLst/>
          </a:prstGeom>
          <a:noFill/>
          <a:ln/>
        </p:spPr>
        <p:txBody>
          <a:bodyPr wrap="square" lIns="0" tIns="0" rIns="0" bIns="0" rtlCol="0" anchor="ctr"/>
          <a:lstStyle/>
          <a:p>
            <a:pPr indent="0" marL="0">
              <a:buNone/>
            </a:pPr>
            <a:r>
              <a:rPr lang="en-US" sz="1100" dirty="0">
                <a:solidFill>
                  <a:srgbClr val="F85606"/>
                </a:solidFill>
                <a:latin typeface="Calibri" pitchFamily="34" charset="0"/>
                <a:ea typeface="Calibri" pitchFamily="34" charset="-122"/>
                <a:cs typeface="Calibri" pitchFamily="34" charset="-120"/>
              </a:rPr>
              <a:t>Full report online: daraz-sad.vercel.app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8"/>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WHAT WE'LL COVER TODAY</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Presentation Roadmap — 4 Chapters, 4 Voices</a:t>
            </a:r>
            <a:endParaRPr lang="en-US" sz="3200" dirty="0"/>
          </a:p>
        </p:txBody>
      </p:sp>
      <p:sp>
        <p:nvSpPr>
          <p:cNvPr id="4" name="Shape 2"/>
          <p:cNvSpPr/>
          <p:nvPr/>
        </p:nvSpPr>
        <p:spPr>
          <a:xfrm>
            <a:off x="548640" y="1874520"/>
            <a:ext cx="11064240" cy="859536"/>
          </a:xfrm>
          <a:prstGeom prst="roundRect">
            <a:avLst>
              <a:gd name="adj" fmla="val 6383"/>
            </a:avLst>
          </a:prstGeom>
          <a:solidFill>
            <a:srgbClr val="FFFFFF"/>
          </a:solidFill>
          <a:ln w="12700">
            <a:solidFill>
              <a:srgbClr val="E4E6EC"/>
            </a:solidFill>
            <a:prstDash val="solid"/>
          </a:ln>
        </p:spPr>
      </p:sp>
      <p:sp>
        <p:nvSpPr>
          <p:cNvPr id="5" name="Shape 3"/>
          <p:cNvSpPr/>
          <p:nvPr/>
        </p:nvSpPr>
        <p:spPr>
          <a:xfrm>
            <a:off x="777240" y="2048256"/>
            <a:ext cx="512064" cy="512064"/>
          </a:xfrm>
          <a:prstGeom prst="ellipse">
            <a:avLst/>
          </a:prstGeom>
          <a:solidFill>
            <a:srgbClr val="F85606"/>
          </a:solidFill>
          <a:ln/>
        </p:spPr>
      </p:sp>
      <p:sp>
        <p:nvSpPr>
          <p:cNvPr id="6" name="Text 4"/>
          <p:cNvSpPr/>
          <p:nvPr/>
        </p:nvSpPr>
        <p:spPr>
          <a:xfrm>
            <a:off x="777240" y="204825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508760" y="1947672"/>
            <a:ext cx="1920240" cy="274320"/>
          </a:xfrm>
          <a:prstGeom prst="rect">
            <a:avLst/>
          </a:prstGeom>
          <a:noFill/>
          <a:ln/>
        </p:spPr>
        <p:txBody>
          <a:bodyPr wrap="square" lIns="0" tIns="0" rIns="0" bIns="0" rtlCol="0" anchor="ctr"/>
          <a:lstStyle/>
          <a:p>
            <a:pPr indent="0" marL="0">
              <a:buNone/>
            </a:pPr>
            <a:r>
              <a:rPr lang="en-US" sz="1100" b="1" dirty="0">
                <a:solidFill>
                  <a:srgbClr val="F85606"/>
                </a:solidFill>
                <a:latin typeface="Calibri" pitchFamily="34" charset="0"/>
                <a:ea typeface="Calibri" pitchFamily="34" charset="-122"/>
                <a:cs typeface="Calibri" pitchFamily="34" charset="-120"/>
              </a:rPr>
              <a:t>Chapter 1</a:t>
            </a:r>
            <a:endParaRPr lang="en-US" sz="1100" dirty="0"/>
          </a:p>
        </p:txBody>
      </p:sp>
      <p:sp>
        <p:nvSpPr>
          <p:cNvPr id="8" name="Text 6"/>
          <p:cNvSpPr/>
          <p:nvPr/>
        </p:nvSpPr>
        <p:spPr>
          <a:xfrm>
            <a:off x="1508760" y="2176272"/>
            <a:ext cx="5120640" cy="365760"/>
          </a:xfrm>
          <a:prstGeom prst="rect">
            <a:avLst/>
          </a:prstGeom>
          <a:noFill/>
          <a:ln/>
        </p:spPr>
        <p:txBody>
          <a:bodyPr wrap="square" lIns="0" tIns="0" rIns="0" bIns="0" rtlCol="0" anchor="ctr"/>
          <a:lstStyle/>
          <a:p>
            <a:pPr indent="0" marL="0">
              <a:buNone/>
            </a:pPr>
            <a:r>
              <a:rPr lang="en-US" sz="1800" b="1" dirty="0">
                <a:solidFill>
                  <a:srgbClr val="17233F"/>
                </a:solidFill>
                <a:latin typeface="Cambria" pitchFamily="34" charset="0"/>
                <a:ea typeface="Cambria" pitchFamily="34" charset="-122"/>
                <a:cs typeface="Cambria" pitchFamily="34" charset="-120"/>
              </a:rPr>
              <a:t>Recognition of Need</a:t>
            </a:r>
            <a:endParaRPr lang="en-US" sz="1800" dirty="0"/>
          </a:p>
        </p:txBody>
      </p:sp>
      <p:sp>
        <p:nvSpPr>
          <p:cNvPr id="9" name="Text 7"/>
          <p:cNvSpPr/>
          <p:nvPr/>
        </p:nvSpPr>
        <p:spPr>
          <a:xfrm>
            <a:off x="1508760" y="2496312"/>
            <a:ext cx="5669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What Daraz Bangladesh is, and the 5 problems we found</a:t>
            </a:r>
            <a:endParaRPr lang="en-US" sz="1100" dirty="0"/>
          </a:p>
        </p:txBody>
      </p:sp>
      <p:sp>
        <p:nvSpPr>
          <p:cNvPr id="10" name="Text 8"/>
          <p:cNvSpPr/>
          <p:nvPr/>
        </p:nvSpPr>
        <p:spPr>
          <a:xfrm>
            <a:off x="7818120" y="2020824"/>
            <a:ext cx="3108960" cy="228600"/>
          </a:xfrm>
          <a:prstGeom prst="rect">
            <a:avLst/>
          </a:prstGeom>
          <a:noFill/>
          <a:ln/>
        </p:spPr>
        <p:txBody>
          <a:bodyPr wrap="square" lIns="0" tIns="0" rIns="0" bIns="0" rtlCol="0" anchor="ctr"/>
          <a:lstStyle/>
          <a:p>
            <a:pPr indent="0" marL="0">
              <a:buNone/>
            </a:pPr>
            <a:r>
              <a:rPr lang="en-US" sz="850" b="1" spc="100" kern="0" dirty="0">
                <a:solidFill>
                  <a:srgbClr val="6B7280"/>
                </a:solidFill>
                <a:latin typeface="Calibri" pitchFamily="34" charset="0"/>
                <a:ea typeface="Calibri" pitchFamily="34" charset="-122"/>
                <a:cs typeface="Calibri" pitchFamily="34" charset="-120"/>
              </a:rPr>
              <a:t>PRESENTED BY</a:t>
            </a:r>
            <a:endParaRPr lang="en-US" sz="850" dirty="0"/>
          </a:p>
        </p:txBody>
      </p:sp>
      <p:sp>
        <p:nvSpPr>
          <p:cNvPr id="11" name="Text 9"/>
          <p:cNvSpPr/>
          <p:nvPr/>
        </p:nvSpPr>
        <p:spPr>
          <a:xfrm>
            <a:off x="7818120" y="2240280"/>
            <a:ext cx="3108960" cy="365760"/>
          </a:xfrm>
          <a:prstGeom prst="rect">
            <a:avLst/>
          </a:prstGeom>
          <a:noFill/>
          <a:ln/>
        </p:spPr>
        <p:txBody>
          <a:bodyPr wrap="square" lIns="0" tIns="0" rIns="0" bIns="0" rtlCol="0" anchor="ctr"/>
          <a:lstStyle/>
          <a:p>
            <a:pPr indent="0" marL="0">
              <a:buNone/>
            </a:pPr>
            <a:r>
              <a:rPr lang="en-US" sz="1350" b="1" dirty="0">
                <a:solidFill>
                  <a:srgbClr val="1F2733"/>
                </a:solidFill>
                <a:latin typeface="Calibri" pitchFamily="34" charset="0"/>
                <a:ea typeface="Calibri" pitchFamily="34" charset="-122"/>
                <a:cs typeface="Calibri" pitchFamily="34" charset="-120"/>
              </a:rPr>
              <a:t>Abdullah Al Afif</a:t>
            </a:r>
            <a:endParaRPr lang="en-US" sz="1350" dirty="0"/>
          </a:p>
        </p:txBody>
      </p:sp>
      <p:sp>
        <p:nvSpPr>
          <p:cNvPr id="12" name="Shape 10"/>
          <p:cNvSpPr/>
          <p:nvPr/>
        </p:nvSpPr>
        <p:spPr>
          <a:xfrm>
            <a:off x="548640" y="2898648"/>
            <a:ext cx="11064240" cy="859536"/>
          </a:xfrm>
          <a:prstGeom prst="roundRect">
            <a:avLst>
              <a:gd name="adj" fmla="val 6383"/>
            </a:avLst>
          </a:prstGeom>
          <a:solidFill>
            <a:srgbClr val="FFFFFF"/>
          </a:solidFill>
          <a:ln w="12700">
            <a:solidFill>
              <a:srgbClr val="E4E6EC"/>
            </a:solidFill>
            <a:prstDash val="solid"/>
          </a:ln>
        </p:spPr>
      </p:sp>
      <p:sp>
        <p:nvSpPr>
          <p:cNvPr id="13" name="Shape 11"/>
          <p:cNvSpPr/>
          <p:nvPr/>
        </p:nvSpPr>
        <p:spPr>
          <a:xfrm>
            <a:off x="777240" y="3072384"/>
            <a:ext cx="512064" cy="512064"/>
          </a:xfrm>
          <a:prstGeom prst="ellipse">
            <a:avLst/>
          </a:prstGeom>
          <a:solidFill>
            <a:srgbClr val="F85606"/>
          </a:solidFill>
          <a:ln/>
        </p:spPr>
      </p:sp>
      <p:sp>
        <p:nvSpPr>
          <p:cNvPr id="14" name="Text 12"/>
          <p:cNvSpPr/>
          <p:nvPr/>
        </p:nvSpPr>
        <p:spPr>
          <a:xfrm>
            <a:off x="777240" y="307238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3"/>
          <p:cNvSpPr/>
          <p:nvPr/>
        </p:nvSpPr>
        <p:spPr>
          <a:xfrm>
            <a:off x="1508760" y="2971800"/>
            <a:ext cx="1920240" cy="274320"/>
          </a:xfrm>
          <a:prstGeom prst="rect">
            <a:avLst/>
          </a:prstGeom>
          <a:noFill/>
          <a:ln/>
        </p:spPr>
        <p:txBody>
          <a:bodyPr wrap="square" lIns="0" tIns="0" rIns="0" bIns="0" rtlCol="0" anchor="ctr"/>
          <a:lstStyle/>
          <a:p>
            <a:pPr indent="0" marL="0">
              <a:buNone/>
            </a:pPr>
            <a:r>
              <a:rPr lang="en-US" sz="1100" b="1" dirty="0">
                <a:solidFill>
                  <a:srgbClr val="F85606"/>
                </a:solidFill>
                <a:latin typeface="Calibri" pitchFamily="34" charset="0"/>
                <a:ea typeface="Calibri" pitchFamily="34" charset="-122"/>
                <a:cs typeface="Calibri" pitchFamily="34" charset="-120"/>
              </a:rPr>
              <a:t>Chapter 2</a:t>
            </a:r>
            <a:endParaRPr lang="en-US" sz="1100" dirty="0"/>
          </a:p>
        </p:txBody>
      </p:sp>
      <p:sp>
        <p:nvSpPr>
          <p:cNvPr id="16" name="Text 14"/>
          <p:cNvSpPr/>
          <p:nvPr/>
        </p:nvSpPr>
        <p:spPr>
          <a:xfrm>
            <a:off x="1508760" y="3200400"/>
            <a:ext cx="5120640" cy="365760"/>
          </a:xfrm>
          <a:prstGeom prst="rect">
            <a:avLst/>
          </a:prstGeom>
          <a:noFill/>
          <a:ln/>
        </p:spPr>
        <p:txBody>
          <a:bodyPr wrap="square" lIns="0" tIns="0" rIns="0" bIns="0" rtlCol="0" anchor="ctr"/>
          <a:lstStyle/>
          <a:p>
            <a:pPr indent="0" marL="0">
              <a:buNone/>
            </a:pPr>
            <a:r>
              <a:rPr lang="en-US" sz="1800" b="1" dirty="0">
                <a:solidFill>
                  <a:srgbClr val="17233F"/>
                </a:solidFill>
                <a:latin typeface="Cambria" pitchFamily="34" charset="0"/>
                <a:ea typeface="Cambria" pitchFamily="34" charset="-122"/>
                <a:cs typeface="Cambria" pitchFamily="34" charset="-120"/>
              </a:rPr>
              <a:t>Initial Feasibility Study</a:t>
            </a:r>
            <a:endParaRPr lang="en-US" sz="1800" dirty="0"/>
          </a:p>
        </p:txBody>
      </p:sp>
      <p:sp>
        <p:nvSpPr>
          <p:cNvPr id="17" name="Text 15"/>
          <p:cNvSpPr/>
          <p:nvPr/>
        </p:nvSpPr>
        <p:spPr>
          <a:xfrm>
            <a:off x="1508760" y="3520440"/>
            <a:ext cx="5669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Is each problem realistic and worth fixing?</a:t>
            </a:r>
            <a:endParaRPr lang="en-US" sz="1100" dirty="0"/>
          </a:p>
        </p:txBody>
      </p:sp>
      <p:sp>
        <p:nvSpPr>
          <p:cNvPr id="18" name="Text 16"/>
          <p:cNvSpPr/>
          <p:nvPr/>
        </p:nvSpPr>
        <p:spPr>
          <a:xfrm>
            <a:off x="7818120" y="3044952"/>
            <a:ext cx="3108960" cy="228600"/>
          </a:xfrm>
          <a:prstGeom prst="rect">
            <a:avLst/>
          </a:prstGeom>
          <a:noFill/>
          <a:ln/>
        </p:spPr>
        <p:txBody>
          <a:bodyPr wrap="square" lIns="0" tIns="0" rIns="0" bIns="0" rtlCol="0" anchor="ctr"/>
          <a:lstStyle/>
          <a:p>
            <a:pPr indent="0" marL="0">
              <a:buNone/>
            </a:pPr>
            <a:r>
              <a:rPr lang="en-US" sz="850" b="1" spc="100" kern="0" dirty="0">
                <a:solidFill>
                  <a:srgbClr val="6B7280"/>
                </a:solidFill>
                <a:latin typeface="Calibri" pitchFamily="34" charset="0"/>
                <a:ea typeface="Calibri" pitchFamily="34" charset="-122"/>
                <a:cs typeface="Calibri" pitchFamily="34" charset="-120"/>
              </a:rPr>
              <a:t>PRESENTED BY</a:t>
            </a:r>
            <a:endParaRPr lang="en-US" sz="850" dirty="0"/>
          </a:p>
        </p:txBody>
      </p:sp>
      <p:sp>
        <p:nvSpPr>
          <p:cNvPr id="19" name="Text 17"/>
          <p:cNvSpPr/>
          <p:nvPr/>
        </p:nvSpPr>
        <p:spPr>
          <a:xfrm>
            <a:off x="7818120" y="3264408"/>
            <a:ext cx="3108960" cy="365760"/>
          </a:xfrm>
          <a:prstGeom prst="rect">
            <a:avLst/>
          </a:prstGeom>
          <a:noFill/>
          <a:ln/>
        </p:spPr>
        <p:txBody>
          <a:bodyPr wrap="square" lIns="0" tIns="0" rIns="0" bIns="0" rtlCol="0" anchor="ctr"/>
          <a:lstStyle/>
          <a:p>
            <a:pPr indent="0" marL="0">
              <a:buNone/>
            </a:pPr>
            <a:r>
              <a:rPr lang="en-US" sz="1350" b="1" dirty="0">
                <a:solidFill>
                  <a:srgbClr val="1F2733"/>
                </a:solidFill>
                <a:latin typeface="Calibri" pitchFamily="34" charset="0"/>
                <a:ea typeface="Calibri" pitchFamily="34" charset="-122"/>
                <a:cs typeface="Calibri" pitchFamily="34" charset="-120"/>
              </a:rPr>
              <a:t>Ajijul Hakim Sarkar</a:t>
            </a:r>
            <a:endParaRPr lang="en-US" sz="1350" dirty="0"/>
          </a:p>
        </p:txBody>
      </p:sp>
      <p:sp>
        <p:nvSpPr>
          <p:cNvPr id="20" name="Shape 18"/>
          <p:cNvSpPr/>
          <p:nvPr/>
        </p:nvSpPr>
        <p:spPr>
          <a:xfrm>
            <a:off x="548640" y="3922776"/>
            <a:ext cx="11064240" cy="859536"/>
          </a:xfrm>
          <a:prstGeom prst="roundRect">
            <a:avLst>
              <a:gd name="adj" fmla="val 6383"/>
            </a:avLst>
          </a:prstGeom>
          <a:solidFill>
            <a:srgbClr val="FFFFFF"/>
          </a:solidFill>
          <a:ln w="12700">
            <a:solidFill>
              <a:srgbClr val="E4E6EC"/>
            </a:solidFill>
            <a:prstDash val="solid"/>
          </a:ln>
        </p:spPr>
      </p:sp>
      <p:sp>
        <p:nvSpPr>
          <p:cNvPr id="21" name="Shape 19"/>
          <p:cNvSpPr/>
          <p:nvPr/>
        </p:nvSpPr>
        <p:spPr>
          <a:xfrm>
            <a:off x="777240" y="4096512"/>
            <a:ext cx="512064" cy="512064"/>
          </a:xfrm>
          <a:prstGeom prst="ellipse">
            <a:avLst/>
          </a:prstGeom>
          <a:solidFill>
            <a:srgbClr val="F85606"/>
          </a:solidFill>
          <a:ln/>
        </p:spPr>
      </p:sp>
      <p:sp>
        <p:nvSpPr>
          <p:cNvPr id="22" name="Text 20"/>
          <p:cNvSpPr/>
          <p:nvPr/>
        </p:nvSpPr>
        <p:spPr>
          <a:xfrm>
            <a:off x="777240" y="409651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3" name="Text 21"/>
          <p:cNvSpPr/>
          <p:nvPr/>
        </p:nvSpPr>
        <p:spPr>
          <a:xfrm>
            <a:off x="1508760" y="3995928"/>
            <a:ext cx="1920240" cy="274320"/>
          </a:xfrm>
          <a:prstGeom prst="rect">
            <a:avLst/>
          </a:prstGeom>
          <a:noFill/>
          <a:ln/>
        </p:spPr>
        <p:txBody>
          <a:bodyPr wrap="square" lIns="0" tIns="0" rIns="0" bIns="0" rtlCol="0" anchor="ctr"/>
          <a:lstStyle/>
          <a:p>
            <a:pPr indent="0" marL="0">
              <a:buNone/>
            </a:pPr>
            <a:r>
              <a:rPr lang="en-US" sz="1100" b="1" dirty="0">
                <a:solidFill>
                  <a:srgbClr val="F85606"/>
                </a:solidFill>
                <a:latin typeface="Calibri" pitchFamily="34" charset="0"/>
                <a:ea typeface="Calibri" pitchFamily="34" charset="-122"/>
                <a:cs typeface="Calibri" pitchFamily="34" charset="-120"/>
              </a:rPr>
              <a:t>Chapter 3</a:t>
            </a:r>
            <a:endParaRPr lang="en-US" sz="1100" dirty="0"/>
          </a:p>
        </p:txBody>
      </p:sp>
      <p:sp>
        <p:nvSpPr>
          <p:cNvPr id="24" name="Text 22"/>
          <p:cNvSpPr/>
          <p:nvPr/>
        </p:nvSpPr>
        <p:spPr>
          <a:xfrm>
            <a:off x="1508760" y="4224528"/>
            <a:ext cx="5120640" cy="365760"/>
          </a:xfrm>
          <a:prstGeom prst="rect">
            <a:avLst/>
          </a:prstGeom>
          <a:noFill/>
          <a:ln/>
        </p:spPr>
        <p:txBody>
          <a:bodyPr wrap="square" lIns="0" tIns="0" rIns="0" bIns="0" rtlCol="0" anchor="ctr"/>
          <a:lstStyle/>
          <a:p>
            <a:pPr indent="0" marL="0">
              <a:buNone/>
            </a:pPr>
            <a:r>
              <a:rPr lang="en-US" sz="1800" b="1" dirty="0">
                <a:solidFill>
                  <a:srgbClr val="17233F"/>
                </a:solidFill>
                <a:latin typeface="Cambria" pitchFamily="34" charset="0"/>
                <a:ea typeface="Cambria" pitchFamily="34" charset="-122"/>
                <a:cs typeface="Cambria" pitchFamily="34" charset="-120"/>
              </a:rPr>
              <a:t>Analysis</a:t>
            </a:r>
            <a:endParaRPr lang="en-US" sz="1800" dirty="0"/>
          </a:p>
        </p:txBody>
      </p:sp>
      <p:sp>
        <p:nvSpPr>
          <p:cNvPr id="25" name="Text 23"/>
          <p:cNvSpPr/>
          <p:nvPr/>
        </p:nvSpPr>
        <p:spPr>
          <a:xfrm>
            <a:off x="1508760" y="4544568"/>
            <a:ext cx="5669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How we gathered proof, and what the data shows</a:t>
            </a:r>
            <a:endParaRPr lang="en-US" sz="1100" dirty="0"/>
          </a:p>
        </p:txBody>
      </p:sp>
      <p:sp>
        <p:nvSpPr>
          <p:cNvPr id="26" name="Text 24"/>
          <p:cNvSpPr/>
          <p:nvPr/>
        </p:nvSpPr>
        <p:spPr>
          <a:xfrm>
            <a:off x="7818120" y="4069080"/>
            <a:ext cx="3108960" cy="228600"/>
          </a:xfrm>
          <a:prstGeom prst="rect">
            <a:avLst/>
          </a:prstGeom>
          <a:noFill/>
          <a:ln/>
        </p:spPr>
        <p:txBody>
          <a:bodyPr wrap="square" lIns="0" tIns="0" rIns="0" bIns="0" rtlCol="0" anchor="ctr"/>
          <a:lstStyle/>
          <a:p>
            <a:pPr indent="0" marL="0">
              <a:buNone/>
            </a:pPr>
            <a:r>
              <a:rPr lang="en-US" sz="850" b="1" spc="100" kern="0" dirty="0">
                <a:solidFill>
                  <a:srgbClr val="6B7280"/>
                </a:solidFill>
                <a:latin typeface="Calibri" pitchFamily="34" charset="0"/>
                <a:ea typeface="Calibri" pitchFamily="34" charset="-122"/>
                <a:cs typeface="Calibri" pitchFamily="34" charset="-120"/>
              </a:rPr>
              <a:t>PRESENTED BY</a:t>
            </a:r>
            <a:endParaRPr lang="en-US" sz="850" dirty="0"/>
          </a:p>
        </p:txBody>
      </p:sp>
      <p:sp>
        <p:nvSpPr>
          <p:cNvPr id="27" name="Text 25"/>
          <p:cNvSpPr/>
          <p:nvPr/>
        </p:nvSpPr>
        <p:spPr>
          <a:xfrm>
            <a:off x="7818120" y="4288536"/>
            <a:ext cx="3108960" cy="365760"/>
          </a:xfrm>
          <a:prstGeom prst="rect">
            <a:avLst/>
          </a:prstGeom>
          <a:noFill/>
          <a:ln/>
        </p:spPr>
        <p:txBody>
          <a:bodyPr wrap="square" lIns="0" tIns="0" rIns="0" bIns="0" rtlCol="0" anchor="ctr"/>
          <a:lstStyle/>
          <a:p>
            <a:pPr indent="0" marL="0">
              <a:buNone/>
            </a:pPr>
            <a:r>
              <a:rPr lang="en-US" sz="1350" b="1" dirty="0">
                <a:solidFill>
                  <a:srgbClr val="1F2733"/>
                </a:solidFill>
                <a:latin typeface="Calibri" pitchFamily="34" charset="0"/>
                <a:ea typeface="Calibri" pitchFamily="34" charset="-122"/>
                <a:cs typeface="Calibri" pitchFamily="34" charset="-120"/>
              </a:rPr>
              <a:t>Aronno Chakrabartti</a:t>
            </a:r>
            <a:endParaRPr lang="en-US" sz="1350" dirty="0"/>
          </a:p>
        </p:txBody>
      </p:sp>
      <p:sp>
        <p:nvSpPr>
          <p:cNvPr id="28" name="Shape 26"/>
          <p:cNvSpPr/>
          <p:nvPr/>
        </p:nvSpPr>
        <p:spPr>
          <a:xfrm>
            <a:off x="548640" y="4946904"/>
            <a:ext cx="11064240" cy="859536"/>
          </a:xfrm>
          <a:prstGeom prst="roundRect">
            <a:avLst>
              <a:gd name="adj" fmla="val 6383"/>
            </a:avLst>
          </a:prstGeom>
          <a:solidFill>
            <a:srgbClr val="FFFFFF"/>
          </a:solidFill>
          <a:ln w="12700">
            <a:solidFill>
              <a:srgbClr val="E4E6EC"/>
            </a:solidFill>
            <a:prstDash val="solid"/>
          </a:ln>
        </p:spPr>
      </p:sp>
      <p:sp>
        <p:nvSpPr>
          <p:cNvPr id="29" name="Shape 27"/>
          <p:cNvSpPr/>
          <p:nvPr/>
        </p:nvSpPr>
        <p:spPr>
          <a:xfrm>
            <a:off x="777240" y="5120640"/>
            <a:ext cx="512064" cy="512064"/>
          </a:xfrm>
          <a:prstGeom prst="ellipse">
            <a:avLst/>
          </a:prstGeom>
          <a:solidFill>
            <a:srgbClr val="F85606"/>
          </a:solidFill>
          <a:ln/>
        </p:spPr>
      </p:sp>
      <p:sp>
        <p:nvSpPr>
          <p:cNvPr id="30" name="Text 28"/>
          <p:cNvSpPr/>
          <p:nvPr/>
        </p:nvSpPr>
        <p:spPr>
          <a:xfrm>
            <a:off x="777240" y="512064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1" name="Text 29"/>
          <p:cNvSpPr/>
          <p:nvPr/>
        </p:nvSpPr>
        <p:spPr>
          <a:xfrm>
            <a:off x="1508760" y="5020056"/>
            <a:ext cx="1920240" cy="274320"/>
          </a:xfrm>
          <a:prstGeom prst="rect">
            <a:avLst/>
          </a:prstGeom>
          <a:noFill/>
          <a:ln/>
        </p:spPr>
        <p:txBody>
          <a:bodyPr wrap="square" lIns="0" tIns="0" rIns="0" bIns="0" rtlCol="0" anchor="ctr"/>
          <a:lstStyle/>
          <a:p>
            <a:pPr indent="0" marL="0">
              <a:buNone/>
            </a:pPr>
            <a:r>
              <a:rPr lang="en-US" sz="1100" b="1" dirty="0">
                <a:solidFill>
                  <a:srgbClr val="F85606"/>
                </a:solidFill>
                <a:latin typeface="Calibri" pitchFamily="34" charset="0"/>
                <a:ea typeface="Calibri" pitchFamily="34" charset="-122"/>
                <a:cs typeface="Calibri" pitchFamily="34" charset="-120"/>
              </a:rPr>
              <a:t>Chapter 4</a:t>
            </a:r>
            <a:endParaRPr lang="en-US" sz="1100" dirty="0"/>
          </a:p>
        </p:txBody>
      </p:sp>
      <p:sp>
        <p:nvSpPr>
          <p:cNvPr id="32" name="Text 30"/>
          <p:cNvSpPr/>
          <p:nvPr/>
        </p:nvSpPr>
        <p:spPr>
          <a:xfrm>
            <a:off x="1508760" y="5248656"/>
            <a:ext cx="5120640" cy="365760"/>
          </a:xfrm>
          <a:prstGeom prst="rect">
            <a:avLst/>
          </a:prstGeom>
          <a:noFill/>
          <a:ln/>
        </p:spPr>
        <p:txBody>
          <a:bodyPr wrap="square" lIns="0" tIns="0" rIns="0" bIns="0" rtlCol="0" anchor="ctr"/>
          <a:lstStyle/>
          <a:p>
            <a:pPr indent="0" marL="0">
              <a:buNone/>
            </a:pPr>
            <a:r>
              <a:rPr lang="en-US" sz="1800" b="1" dirty="0">
                <a:solidFill>
                  <a:srgbClr val="17233F"/>
                </a:solidFill>
                <a:latin typeface="Cambria" pitchFamily="34" charset="0"/>
                <a:ea typeface="Cambria" pitchFamily="34" charset="-122"/>
                <a:cs typeface="Cambria" pitchFamily="34" charset="-120"/>
              </a:rPr>
              <a:t>Design</a:t>
            </a:r>
            <a:endParaRPr lang="en-US" sz="1800" dirty="0"/>
          </a:p>
        </p:txBody>
      </p:sp>
      <p:sp>
        <p:nvSpPr>
          <p:cNvPr id="33" name="Text 31"/>
          <p:cNvSpPr/>
          <p:nvPr/>
        </p:nvSpPr>
        <p:spPr>
          <a:xfrm>
            <a:off x="1508760" y="5568696"/>
            <a:ext cx="56692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Our proposed system, database, and new forms</a:t>
            </a:r>
            <a:endParaRPr lang="en-US" sz="1100" dirty="0"/>
          </a:p>
        </p:txBody>
      </p:sp>
      <p:sp>
        <p:nvSpPr>
          <p:cNvPr id="34" name="Text 32"/>
          <p:cNvSpPr/>
          <p:nvPr/>
        </p:nvSpPr>
        <p:spPr>
          <a:xfrm>
            <a:off x="7818120" y="5093208"/>
            <a:ext cx="3108960" cy="228600"/>
          </a:xfrm>
          <a:prstGeom prst="rect">
            <a:avLst/>
          </a:prstGeom>
          <a:noFill/>
          <a:ln/>
        </p:spPr>
        <p:txBody>
          <a:bodyPr wrap="square" lIns="0" tIns="0" rIns="0" bIns="0" rtlCol="0" anchor="ctr"/>
          <a:lstStyle/>
          <a:p>
            <a:pPr indent="0" marL="0">
              <a:buNone/>
            </a:pPr>
            <a:r>
              <a:rPr lang="en-US" sz="850" b="1" spc="100" kern="0" dirty="0">
                <a:solidFill>
                  <a:srgbClr val="6B7280"/>
                </a:solidFill>
                <a:latin typeface="Calibri" pitchFamily="34" charset="0"/>
                <a:ea typeface="Calibri" pitchFamily="34" charset="-122"/>
                <a:cs typeface="Calibri" pitchFamily="34" charset="-120"/>
              </a:rPr>
              <a:t>PRESENTED BY</a:t>
            </a:r>
            <a:endParaRPr lang="en-US" sz="850" dirty="0"/>
          </a:p>
        </p:txBody>
      </p:sp>
      <p:sp>
        <p:nvSpPr>
          <p:cNvPr id="35" name="Text 33"/>
          <p:cNvSpPr/>
          <p:nvPr/>
        </p:nvSpPr>
        <p:spPr>
          <a:xfrm>
            <a:off x="7818120" y="5312664"/>
            <a:ext cx="3108960" cy="365760"/>
          </a:xfrm>
          <a:prstGeom prst="rect">
            <a:avLst/>
          </a:prstGeom>
          <a:noFill/>
          <a:ln/>
        </p:spPr>
        <p:txBody>
          <a:bodyPr wrap="square" lIns="0" tIns="0" rIns="0" bIns="0" rtlCol="0" anchor="ctr"/>
          <a:lstStyle/>
          <a:p>
            <a:pPr indent="0" marL="0">
              <a:buNone/>
            </a:pPr>
            <a:r>
              <a:rPr lang="en-US" sz="1350" b="1" dirty="0">
                <a:solidFill>
                  <a:srgbClr val="1F2733"/>
                </a:solidFill>
                <a:latin typeface="Calibri" pitchFamily="34" charset="0"/>
                <a:ea typeface="Calibri" pitchFamily="34" charset="-122"/>
                <a:cs typeface="Calibri" pitchFamily="34" charset="-120"/>
              </a:rPr>
              <a:t>Ishrat Jahan Sharmin</a:t>
            </a:r>
            <a:endParaRPr lang="en-US" sz="1350" dirty="0"/>
          </a:p>
        </p:txBody>
      </p:sp>
      <p:sp>
        <p:nvSpPr>
          <p:cNvPr id="36" name="Text 34"/>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37" name="Text 35"/>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1 · RECOGNITION OF NEED</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Daraz Bangladesh, and Why It's Worth Studying</a:t>
            </a:r>
            <a:endParaRPr lang="en-US" sz="3200" dirty="0"/>
          </a:p>
        </p:txBody>
      </p:sp>
      <p:sp>
        <p:nvSpPr>
          <p:cNvPr id="4" name="Text 2"/>
          <p:cNvSpPr/>
          <p:nvPr/>
        </p:nvSpPr>
        <p:spPr>
          <a:xfrm>
            <a:off x="548640" y="1691640"/>
            <a:ext cx="5943600" cy="1737360"/>
          </a:xfrm>
          <a:prstGeom prst="rect">
            <a:avLst/>
          </a:prstGeom>
          <a:noFill/>
          <a:ln/>
        </p:spPr>
        <p:txBody>
          <a:bodyPr wrap="square" lIns="0" tIns="0" rIns="0" bIns="0" rtlCol="0" anchor="ctr"/>
          <a:lstStyle/>
          <a:p>
            <a:pPr indent="0" marL="0">
              <a:lnSpc>
                <a:spcPct val="125000"/>
              </a:lnSpc>
              <a:buNone/>
            </a:pPr>
            <a:r>
              <a:rPr lang="en-US" sz="1450" dirty="0">
                <a:solidFill>
                  <a:srgbClr val="1F2733"/>
                </a:solidFill>
                <a:latin typeface="Calibri" pitchFamily="34" charset="0"/>
                <a:ea typeface="Calibri" pitchFamily="34" charset="-122"/>
                <a:cs typeface="Calibri" pitchFamily="34" charset="-120"/>
              </a:rPr>
              <a:t>Daraz Bangladesh is an online marketplace where people buy almost anything — electronics, clothes, groceries, and more. It connects thousands of independent sellers with millions of buyers, and it is owned by the Alibaba Group.</a:t>
            </a:r>
            <a:endParaRPr lang="en-US" sz="1450" dirty="0"/>
          </a:p>
        </p:txBody>
      </p:sp>
      <p:sp>
        <p:nvSpPr>
          <p:cNvPr id="5" name="Text 3"/>
          <p:cNvSpPr/>
          <p:nvPr/>
        </p:nvSpPr>
        <p:spPr>
          <a:xfrm>
            <a:off x="548640" y="3429000"/>
            <a:ext cx="5943600" cy="1188720"/>
          </a:xfrm>
          <a:prstGeom prst="rect">
            <a:avLst/>
          </a:prstGeom>
          <a:noFill/>
          <a:ln/>
        </p:spPr>
        <p:txBody>
          <a:bodyPr wrap="square" lIns="0" tIns="0" rIns="0" bIns="0" rtlCol="0" anchor="ctr"/>
          <a:lstStyle/>
          <a:p>
            <a:pPr indent="0" marL="0">
              <a:lnSpc>
                <a:spcPct val="125000"/>
              </a:lnSpc>
              <a:buNone/>
            </a:pPr>
            <a:r>
              <a:rPr lang="en-US" sz="1450" dirty="0">
                <a:solidFill>
                  <a:srgbClr val="1F2733"/>
                </a:solidFill>
                <a:latin typeface="Calibri" pitchFamily="34" charset="0"/>
                <a:ea typeface="Calibri" pitchFamily="34" charset="-122"/>
                <a:cs typeface="Calibri" pitchFamily="34" charset="-120"/>
              </a:rPr>
              <a:t>Because Daraz is large, well known, and well documented in reviews and news, it is an ideal real-life case for a System Analysis and Design study.</a:t>
            </a:r>
            <a:endParaRPr lang="en-US" sz="1450" dirty="0"/>
          </a:p>
        </p:txBody>
      </p:sp>
      <p:sp>
        <p:nvSpPr>
          <p:cNvPr id="6" name="Shape 4"/>
          <p:cNvSpPr/>
          <p:nvPr/>
        </p:nvSpPr>
        <p:spPr>
          <a:xfrm>
            <a:off x="6903720" y="1737360"/>
            <a:ext cx="4709160" cy="1234440"/>
          </a:xfrm>
          <a:prstGeom prst="roundRect">
            <a:avLst>
              <a:gd name="adj" fmla="val 5185"/>
            </a:avLst>
          </a:prstGeom>
          <a:solidFill>
            <a:srgbClr val="F1F2F5"/>
          </a:solidFill>
          <a:ln/>
        </p:spPr>
      </p:sp>
      <p:sp>
        <p:nvSpPr>
          <p:cNvPr id="7" name="Text 5"/>
          <p:cNvSpPr/>
          <p:nvPr/>
        </p:nvSpPr>
        <p:spPr>
          <a:xfrm>
            <a:off x="7132320" y="1847088"/>
            <a:ext cx="1554480" cy="1005840"/>
          </a:xfrm>
          <a:prstGeom prst="rect">
            <a:avLst/>
          </a:prstGeom>
          <a:noFill/>
          <a:ln/>
        </p:spPr>
        <p:txBody>
          <a:bodyPr wrap="square" lIns="0" tIns="0" rIns="0" bIns="0" rtlCol="0" anchor="ctr"/>
          <a:lstStyle/>
          <a:p>
            <a:pPr indent="0" marL="0">
              <a:buNone/>
            </a:pPr>
            <a:r>
              <a:rPr lang="en-US" sz="3000" b="1" dirty="0">
                <a:solidFill>
                  <a:srgbClr val="F85606"/>
                </a:solidFill>
                <a:latin typeface="Cambria" pitchFamily="34" charset="0"/>
                <a:ea typeface="Cambria" pitchFamily="34" charset="-122"/>
                <a:cs typeface="Cambria" pitchFamily="34" charset="-120"/>
              </a:rPr>
              <a:t>2015</a:t>
            </a:r>
            <a:endParaRPr lang="en-US" sz="3000" dirty="0"/>
          </a:p>
        </p:txBody>
      </p:sp>
      <p:sp>
        <p:nvSpPr>
          <p:cNvPr id="8" name="Text 6"/>
          <p:cNvSpPr/>
          <p:nvPr/>
        </p:nvSpPr>
        <p:spPr>
          <a:xfrm>
            <a:off x="8732520" y="1847088"/>
            <a:ext cx="2651760" cy="1005840"/>
          </a:xfrm>
          <a:prstGeom prst="rect">
            <a:avLst/>
          </a:prstGeom>
          <a:noFill/>
          <a:ln/>
        </p:spPr>
        <p:txBody>
          <a:bodyPr wrap="square" lIns="0" tIns="0" rIns="0" bIns="0" rtlCol="0" anchor="ctr"/>
          <a:lstStyle/>
          <a:p>
            <a:pPr indent="0" marL="0">
              <a:buNone/>
            </a:pPr>
            <a:r>
              <a:rPr lang="en-US" sz="1250" b="1" dirty="0">
                <a:solidFill>
                  <a:srgbClr val="17233F"/>
                </a:solidFill>
                <a:latin typeface="Calibri" pitchFamily="34" charset="0"/>
                <a:ea typeface="Calibri" pitchFamily="34" charset="-122"/>
                <a:cs typeface="Calibri" pitchFamily="34" charset="-120"/>
              </a:rPr>
              <a:t>Started operating</a:t>
            </a:r>
            <a:endParaRPr lang="en-US" sz="1250" dirty="0"/>
          </a:p>
          <a:p>
            <a:pPr indent="0" marL="0">
              <a:buNone/>
            </a:pPr>
            <a:r>
              <a:rPr lang="en-US" sz="1250" b="1" dirty="0">
                <a:solidFill>
                  <a:srgbClr val="17233F"/>
                </a:solidFill>
                <a:latin typeface="Calibri" pitchFamily="34" charset="0"/>
                <a:ea typeface="Calibri" pitchFamily="34" charset="-122"/>
                <a:cs typeface="Calibri" pitchFamily="34" charset="-120"/>
              </a:rPr>
              <a:t>in Bangladesh</a:t>
            </a:r>
            <a:endParaRPr lang="en-US" sz="1250" dirty="0"/>
          </a:p>
        </p:txBody>
      </p:sp>
      <p:sp>
        <p:nvSpPr>
          <p:cNvPr id="9" name="Shape 7"/>
          <p:cNvSpPr/>
          <p:nvPr/>
        </p:nvSpPr>
        <p:spPr>
          <a:xfrm>
            <a:off x="6903720" y="3218688"/>
            <a:ext cx="4709160" cy="1234440"/>
          </a:xfrm>
          <a:prstGeom prst="roundRect">
            <a:avLst>
              <a:gd name="adj" fmla="val 5185"/>
            </a:avLst>
          </a:prstGeom>
          <a:solidFill>
            <a:srgbClr val="F1F2F5"/>
          </a:solidFill>
          <a:ln/>
        </p:spPr>
      </p:sp>
      <p:sp>
        <p:nvSpPr>
          <p:cNvPr id="10" name="Text 8"/>
          <p:cNvSpPr/>
          <p:nvPr/>
        </p:nvSpPr>
        <p:spPr>
          <a:xfrm>
            <a:off x="7132320" y="3328416"/>
            <a:ext cx="1554480" cy="1005840"/>
          </a:xfrm>
          <a:prstGeom prst="rect">
            <a:avLst/>
          </a:prstGeom>
          <a:noFill/>
          <a:ln/>
        </p:spPr>
        <p:txBody>
          <a:bodyPr wrap="square" lIns="0" tIns="0" rIns="0" bIns="0" rtlCol="0" anchor="ctr"/>
          <a:lstStyle/>
          <a:p>
            <a:pPr indent="0" marL="0">
              <a:buNone/>
            </a:pPr>
            <a:r>
              <a:rPr lang="en-US" sz="3000" b="1" dirty="0">
                <a:solidFill>
                  <a:srgbClr val="F85606"/>
                </a:solidFill>
                <a:latin typeface="Cambria" pitchFamily="34" charset="0"/>
                <a:ea typeface="Cambria" pitchFamily="34" charset="-122"/>
                <a:cs typeface="Cambria" pitchFamily="34" charset="-120"/>
              </a:rPr>
              <a:t>#1</a:t>
            </a:r>
            <a:endParaRPr lang="en-US" sz="3000" dirty="0"/>
          </a:p>
        </p:txBody>
      </p:sp>
      <p:sp>
        <p:nvSpPr>
          <p:cNvPr id="11" name="Text 9"/>
          <p:cNvSpPr/>
          <p:nvPr/>
        </p:nvSpPr>
        <p:spPr>
          <a:xfrm>
            <a:off x="8732520" y="3328416"/>
            <a:ext cx="2651760" cy="1005840"/>
          </a:xfrm>
          <a:prstGeom prst="rect">
            <a:avLst/>
          </a:prstGeom>
          <a:noFill/>
          <a:ln/>
        </p:spPr>
        <p:txBody>
          <a:bodyPr wrap="square" lIns="0" tIns="0" rIns="0" bIns="0" rtlCol="0" anchor="ctr"/>
          <a:lstStyle/>
          <a:p>
            <a:pPr indent="0" marL="0">
              <a:buNone/>
            </a:pPr>
            <a:r>
              <a:rPr lang="en-US" sz="1250" b="1" dirty="0">
                <a:solidFill>
                  <a:srgbClr val="17233F"/>
                </a:solidFill>
                <a:latin typeface="Calibri" pitchFamily="34" charset="0"/>
                <a:ea typeface="Calibri" pitchFamily="34" charset="-122"/>
                <a:cs typeface="Calibri" pitchFamily="34" charset="-120"/>
              </a:rPr>
              <a:t>Largest online</a:t>
            </a:r>
            <a:endParaRPr lang="en-US" sz="1250" dirty="0"/>
          </a:p>
          <a:p>
            <a:pPr indent="0" marL="0">
              <a:buNone/>
            </a:pPr>
            <a:r>
              <a:rPr lang="en-US" sz="1250" b="1" dirty="0">
                <a:solidFill>
                  <a:srgbClr val="17233F"/>
                </a:solidFill>
                <a:latin typeface="Calibri" pitchFamily="34" charset="0"/>
                <a:ea typeface="Calibri" pitchFamily="34" charset="-122"/>
                <a:cs typeface="Calibri" pitchFamily="34" charset="-120"/>
              </a:rPr>
              <a:t>marketplace in BD</a:t>
            </a:r>
            <a:endParaRPr lang="en-US" sz="1250" dirty="0"/>
          </a:p>
        </p:txBody>
      </p:sp>
      <p:sp>
        <p:nvSpPr>
          <p:cNvPr id="12" name="Shape 10"/>
          <p:cNvSpPr/>
          <p:nvPr/>
        </p:nvSpPr>
        <p:spPr>
          <a:xfrm>
            <a:off x="6903720" y="4700016"/>
            <a:ext cx="4709160" cy="1234440"/>
          </a:xfrm>
          <a:prstGeom prst="roundRect">
            <a:avLst>
              <a:gd name="adj" fmla="val 5185"/>
            </a:avLst>
          </a:prstGeom>
          <a:solidFill>
            <a:srgbClr val="F1F2F5"/>
          </a:solidFill>
          <a:ln/>
        </p:spPr>
      </p:sp>
      <p:sp>
        <p:nvSpPr>
          <p:cNvPr id="13" name="Text 11"/>
          <p:cNvSpPr/>
          <p:nvPr/>
        </p:nvSpPr>
        <p:spPr>
          <a:xfrm>
            <a:off x="7132320" y="4809744"/>
            <a:ext cx="1554480" cy="1005840"/>
          </a:xfrm>
          <a:prstGeom prst="rect">
            <a:avLst/>
          </a:prstGeom>
          <a:noFill/>
          <a:ln/>
        </p:spPr>
        <p:txBody>
          <a:bodyPr wrap="square" lIns="0" tIns="0" rIns="0" bIns="0" rtlCol="0" anchor="ctr"/>
          <a:lstStyle/>
          <a:p>
            <a:pPr indent="0" marL="0">
              <a:buNone/>
            </a:pPr>
            <a:r>
              <a:rPr lang="en-US" sz="3000" b="1" dirty="0">
                <a:solidFill>
                  <a:srgbClr val="F85606"/>
                </a:solidFill>
                <a:latin typeface="Cambria" pitchFamily="34" charset="0"/>
                <a:ea typeface="Cambria" pitchFamily="34" charset="-122"/>
                <a:cs typeface="Cambria" pitchFamily="34" charset="-120"/>
              </a:rPr>
              <a:t>1000s</a:t>
            </a:r>
            <a:endParaRPr lang="en-US" sz="3000" dirty="0"/>
          </a:p>
        </p:txBody>
      </p:sp>
      <p:sp>
        <p:nvSpPr>
          <p:cNvPr id="14" name="Text 12"/>
          <p:cNvSpPr/>
          <p:nvPr/>
        </p:nvSpPr>
        <p:spPr>
          <a:xfrm>
            <a:off x="8732520" y="4809744"/>
            <a:ext cx="2651760" cy="1005840"/>
          </a:xfrm>
          <a:prstGeom prst="rect">
            <a:avLst/>
          </a:prstGeom>
          <a:noFill/>
          <a:ln/>
        </p:spPr>
        <p:txBody>
          <a:bodyPr wrap="square" lIns="0" tIns="0" rIns="0" bIns="0" rtlCol="0" anchor="ctr"/>
          <a:lstStyle/>
          <a:p>
            <a:pPr indent="0" marL="0">
              <a:buNone/>
            </a:pPr>
            <a:r>
              <a:rPr lang="en-US" sz="1250" b="1" dirty="0">
                <a:solidFill>
                  <a:srgbClr val="17233F"/>
                </a:solidFill>
                <a:latin typeface="Calibri" pitchFamily="34" charset="0"/>
                <a:ea typeface="Calibri" pitchFamily="34" charset="-122"/>
                <a:cs typeface="Calibri" pitchFamily="34" charset="-120"/>
              </a:rPr>
              <a:t>Independent sellers</a:t>
            </a:r>
            <a:endParaRPr lang="en-US" sz="1250" dirty="0"/>
          </a:p>
          <a:p>
            <a:pPr indent="0" marL="0">
              <a:buNone/>
            </a:pPr>
            <a:r>
              <a:rPr lang="en-US" sz="1250" b="1" dirty="0">
                <a:solidFill>
                  <a:srgbClr val="17233F"/>
                </a:solidFill>
                <a:latin typeface="Calibri" pitchFamily="34" charset="0"/>
                <a:ea typeface="Calibri" pitchFamily="34" charset="-122"/>
                <a:cs typeface="Calibri" pitchFamily="34" charset="-120"/>
              </a:rPr>
              <a:t>on the platform</a:t>
            </a:r>
            <a:endParaRPr lang="en-US" sz="1250" dirty="0"/>
          </a:p>
        </p:txBody>
      </p:sp>
      <p:sp>
        <p:nvSpPr>
          <p:cNvPr id="15" name="Text 13"/>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16" name="Text 14"/>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1 · RECOGNITION OF NEED</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Five Problems We Found in Customer Reviews</a:t>
            </a:r>
            <a:endParaRPr lang="en-US" sz="3200" dirty="0"/>
          </a:p>
        </p:txBody>
      </p:sp>
      <p:sp>
        <p:nvSpPr>
          <p:cNvPr id="4" name="Shape 2"/>
          <p:cNvSpPr/>
          <p:nvPr/>
        </p:nvSpPr>
        <p:spPr>
          <a:xfrm>
            <a:off x="548640" y="1737360"/>
            <a:ext cx="3566160" cy="2011680"/>
          </a:xfrm>
          <a:prstGeom prst="roundRect">
            <a:avLst>
              <a:gd name="adj" fmla="val 3182"/>
            </a:avLst>
          </a:prstGeom>
          <a:solidFill>
            <a:srgbClr val="F7F7F8"/>
          </a:solidFill>
          <a:ln w="12700">
            <a:solidFill>
              <a:srgbClr val="E4E6EC"/>
            </a:solidFill>
            <a:prstDash val="solid"/>
          </a:ln>
        </p:spPr>
      </p:sp>
      <p:sp>
        <p:nvSpPr>
          <p:cNvPr id="5" name="Shape 3"/>
          <p:cNvSpPr/>
          <p:nvPr/>
        </p:nvSpPr>
        <p:spPr>
          <a:xfrm>
            <a:off x="777240" y="1965960"/>
            <a:ext cx="457200" cy="457200"/>
          </a:xfrm>
          <a:prstGeom prst="ellipse">
            <a:avLst/>
          </a:prstGeom>
          <a:solidFill>
            <a:srgbClr val="F85606"/>
          </a:solidFill>
          <a:ln/>
        </p:spPr>
      </p:sp>
      <p:sp>
        <p:nvSpPr>
          <p:cNvPr id="6" name="Text 4"/>
          <p:cNvSpPr/>
          <p:nvPr/>
        </p:nvSpPr>
        <p:spPr>
          <a:xfrm>
            <a:off x="7772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77240" y="2606040"/>
            <a:ext cx="3108960" cy="502920"/>
          </a:xfrm>
          <a:prstGeom prst="rect">
            <a:avLst/>
          </a:prstGeom>
          <a:noFill/>
          <a:ln/>
        </p:spPr>
        <p:txBody>
          <a:bodyPr wrap="square" lIns="0" tIns="0" rIns="0" bIns="0" rtlCol="0" anchor="ctr"/>
          <a:lstStyle/>
          <a:p>
            <a:pPr indent="0" marL="0">
              <a:buNone/>
            </a:pPr>
            <a:r>
              <a:rPr lang="en-US" sz="1450" b="1" dirty="0">
                <a:solidFill>
                  <a:srgbClr val="17233F"/>
                </a:solidFill>
                <a:latin typeface="Cambria" pitchFamily="34" charset="0"/>
                <a:ea typeface="Cambria" pitchFamily="34" charset="-122"/>
                <a:cs typeface="Cambria" pitchFamily="34" charset="-120"/>
              </a:rPr>
              <a:t>Product Authenticity</a:t>
            </a:r>
            <a:endParaRPr lang="en-US" sz="1450" dirty="0"/>
          </a:p>
        </p:txBody>
      </p:sp>
      <p:sp>
        <p:nvSpPr>
          <p:cNvPr id="8" name="Text 6"/>
          <p:cNvSpPr/>
          <p:nvPr/>
        </p:nvSpPr>
        <p:spPr>
          <a:xfrm>
            <a:off x="777240" y="3063240"/>
            <a:ext cx="3108960" cy="594360"/>
          </a:xfrm>
          <a:prstGeom prst="rect">
            <a:avLst/>
          </a:prstGeom>
          <a:noFill/>
          <a:ln/>
        </p:spPr>
        <p:txBody>
          <a:bodyPr wrap="square" lIns="0" tIns="0" rIns="0" bIns="0" rtlCol="0" anchor="ctr"/>
          <a:lstStyle/>
          <a:p>
            <a:pPr indent="0" marL="0">
              <a:lnSpc>
                <a:spcPct val="115000"/>
              </a:lnSpc>
              <a:buNone/>
            </a:pPr>
            <a:r>
              <a:rPr lang="en-US" sz="1080" dirty="0">
                <a:solidFill>
                  <a:srgbClr val="6B7280"/>
                </a:solidFill>
                <a:latin typeface="Calibri" pitchFamily="34" charset="0"/>
                <a:ea typeface="Calibri" pitchFamily="34" charset="-122"/>
                <a:cs typeface="Calibri" pitchFamily="34" charset="-120"/>
              </a:rPr>
              <a:t>Fake, damaged, or wrong products from unchecked sellers</a:t>
            </a:r>
            <a:endParaRPr lang="en-US" sz="1080" dirty="0"/>
          </a:p>
        </p:txBody>
      </p:sp>
      <p:sp>
        <p:nvSpPr>
          <p:cNvPr id="9" name="Shape 7"/>
          <p:cNvSpPr/>
          <p:nvPr/>
        </p:nvSpPr>
        <p:spPr>
          <a:xfrm>
            <a:off x="4297680" y="1737360"/>
            <a:ext cx="3566160" cy="2011680"/>
          </a:xfrm>
          <a:prstGeom prst="roundRect">
            <a:avLst>
              <a:gd name="adj" fmla="val 3182"/>
            </a:avLst>
          </a:prstGeom>
          <a:solidFill>
            <a:srgbClr val="F7F7F8"/>
          </a:solidFill>
          <a:ln w="12700">
            <a:solidFill>
              <a:srgbClr val="E4E6EC"/>
            </a:solidFill>
            <a:prstDash val="solid"/>
          </a:ln>
        </p:spPr>
      </p:sp>
      <p:sp>
        <p:nvSpPr>
          <p:cNvPr id="10" name="Shape 8"/>
          <p:cNvSpPr/>
          <p:nvPr/>
        </p:nvSpPr>
        <p:spPr>
          <a:xfrm>
            <a:off x="4526280" y="1965960"/>
            <a:ext cx="457200" cy="457200"/>
          </a:xfrm>
          <a:prstGeom prst="ellipse">
            <a:avLst/>
          </a:prstGeom>
          <a:solidFill>
            <a:srgbClr val="F85606"/>
          </a:solidFill>
          <a:ln/>
        </p:spPr>
      </p:sp>
      <p:sp>
        <p:nvSpPr>
          <p:cNvPr id="11" name="Text 9"/>
          <p:cNvSpPr/>
          <p:nvPr/>
        </p:nvSpPr>
        <p:spPr>
          <a:xfrm>
            <a:off x="452628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526280" y="2606040"/>
            <a:ext cx="3108960" cy="502920"/>
          </a:xfrm>
          <a:prstGeom prst="rect">
            <a:avLst/>
          </a:prstGeom>
          <a:noFill/>
          <a:ln/>
        </p:spPr>
        <p:txBody>
          <a:bodyPr wrap="square" lIns="0" tIns="0" rIns="0" bIns="0" rtlCol="0" anchor="ctr"/>
          <a:lstStyle/>
          <a:p>
            <a:pPr indent="0" marL="0">
              <a:buNone/>
            </a:pPr>
            <a:r>
              <a:rPr lang="en-US" sz="1450" b="1" dirty="0">
                <a:solidFill>
                  <a:srgbClr val="17233F"/>
                </a:solidFill>
                <a:latin typeface="Cambria" pitchFamily="34" charset="0"/>
                <a:ea typeface="Cambria" pitchFamily="34" charset="-122"/>
                <a:cs typeface="Cambria" pitchFamily="34" charset="-120"/>
              </a:rPr>
              <a:t>Refund &amp; Return Delays</a:t>
            </a:r>
            <a:endParaRPr lang="en-US" sz="1450" dirty="0"/>
          </a:p>
        </p:txBody>
      </p:sp>
      <p:sp>
        <p:nvSpPr>
          <p:cNvPr id="13" name="Text 11"/>
          <p:cNvSpPr/>
          <p:nvPr/>
        </p:nvSpPr>
        <p:spPr>
          <a:xfrm>
            <a:off x="4526280" y="3063240"/>
            <a:ext cx="3108960" cy="594360"/>
          </a:xfrm>
          <a:prstGeom prst="rect">
            <a:avLst/>
          </a:prstGeom>
          <a:noFill/>
          <a:ln/>
        </p:spPr>
        <p:txBody>
          <a:bodyPr wrap="square" lIns="0" tIns="0" rIns="0" bIns="0" rtlCol="0" anchor="ctr"/>
          <a:lstStyle/>
          <a:p>
            <a:pPr indent="0" marL="0">
              <a:lnSpc>
                <a:spcPct val="115000"/>
              </a:lnSpc>
              <a:buNone/>
            </a:pPr>
            <a:r>
              <a:rPr lang="en-US" sz="1080" dirty="0">
                <a:solidFill>
                  <a:srgbClr val="6B7280"/>
                </a:solidFill>
                <a:latin typeface="Calibri" pitchFamily="34" charset="0"/>
                <a:ea typeface="Calibri" pitchFamily="34" charset="-122"/>
                <a:cs typeface="Calibri" pitchFamily="34" charset="-120"/>
              </a:rPr>
              <a:t>Slow, unclear refunds with no tracking or reason given</a:t>
            </a:r>
            <a:endParaRPr lang="en-US" sz="1080" dirty="0"/>
          </a:p>
        </p:txBody>
      </p:sp>
      <p:sp>
        <p:nvSpPr>
          <p:cNvPr id="14" name="Shape 12"/>
          <p:cNvSpPr/>
          <p:nvPr/>
        </p:nvSpPr>
        <p:spPr>
          <a:xfrm>
            <a:off x="8046720" y="1737360"/>
            <a:ext cx="3566160" cy="2011680"/>
          </a:xfrm>
          <a:prstGeom prst="roundRect">
            <a:avLst>
              <a:gd name="adj" fmla="val 3182"/>
            </a:avLst>
          </a:prstGeom>
          <a:solidFill>
            <a:srgbClr val="F7F7F8"/>
          </a:solidFill>
          <a:ln w="12700">
            <a:solidFill>
              <a:srgbClr val="E4E6EC"/>
            </a:solidFill>
            <a:prstDash val="solid"/>
          </a:ln>
        </p:spPr>
      </p:sp>
      <p:sp>
        <p:nvSpPr>
          <p:cNvPr id="15" name="Shape 13"/>
          <p:cNvSpPr/>
          <p:nvPr/>
        </p:nvSpPr>
        <p:spPr>
          <a:xfrm>
            <a:off x="8275320" y="1965960"/>
            <a:ext cx="457200" cy="457200"/>
          </a:xfrm>
          <a:prstGeom prst="ellipse">
            <a:avLst/>
          </a:prstGeom>
          <a:solidFill>
            <a:srgbClr val="F85606"/>
          </a:solidFill>
          <a:ln/>
        </p:spPr>
      </p:sp>
      <p:sp>
        <p:nvSpPr>
          <p:cNvPr id="16" name="Text 14"/>
          <p:cNvSpPr/>
          <p:nvPr/>
        </p:nvSpPr>
        <p:spPr>
          <a:xfrm>
            <a:off x="827532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275320" y="2606040"/>
            <a:ext cx="3108960" cy="502920"/>
          </a:xfrm>
          <a:prstGeom prst="rect">
            <a:avLst/>
          </a:prstGeom>
          <a:noFill/>
          <a:ln/>
        </p:spPr>
        <p:txBody>
          <a:bodyPr wrap="square" lIns="0" tIns="0" rIns="0" bIns="0" rtlCol="0" anchor="ctr"/>
          <a:lstStyle/>
          <a:p>
            <a:pPr indent="0" marL="0">
              <a:buNone/>
            </a:pPr>
            <a:r>
              <a:rPr lang="en-US" sz="1450" b="1" dirty="0">
                <a:solidFill>
                  <a:srgbClr val="17233F"/>
                </a:solidFill>
                <a:latin typeface="Cambria" pitchFamily="34" charset="0"/>
                <a:ea typeface="Cambria" pitchFamily="34" charset="-122"/>
                <a:cs typeface="Cambria" pitchFamily="34" charset="-120"/>
              </a:rPr>
              <a:t>Account Security &amp; Fraud</a:t>
            </a:r>
            <a:endParaRPr lang="en-US" sz="1450" dirty="0"/>
          </a:p>
        </p:txBody>
      </p:sp>
      <p:sp>
        <p:nvSpPr>
          <p:cNvPr id="18" name="Text 16"/>
          <p:cNvSpPr/>
          <p:nvPr/>
        </p:nvSpPr>
        <p:spPr>
          <a:xfrm>
            <a:off x="8275320" y="3063240"/>
            <a:ext cx="3108960" cy="594360"/>
          </a:xfrm>
          <a:prstGeom prst="rect">
            <a:avLst/>
          </a:prstGeom>
          <a:noFill/>
          <a:ln/>
        </p:spPr>
        <p:txBody>
          <a:bodyPr wrap="square" lIns="0" tIns="0" rIns="0" bIns="0" rtlCol="0" anchor="ctr"/>
          <a:lstStyle/>
          <a:p>
            <a:pPr indent="0" marL="0">
              <a:lnSpc>
                <a:spcPct val="115000"/>
              </a:lnSpc>
              <a:buNone/>
            </a:pPr>
            <a:r>
              <a:rPr lang="en-US" sz="1080" dirty="0">
                <a:solidFill>
                  <a:srgbClr val="6B7280"/>
                </a:solidFill>
                <a:latin typeface="Calibri" pitchFamily="34" charset="0"/>
                <a:ea typeface="Calibri" pitchFamily="34" charset="-122"/>
                <a:cs typeface="Calibri" pitchFamily="34" charset="-120"/>
              </a:rPr>
              <a:t>Hacked accounts and fake Daraz look-alike pages</a:t>
            </a:r>
            <a:endParaRPr lang="en-US" sz="1080" dirty="0"/>
          </a:p>
        </p:txBody>
      </p:sp>
      <p:sp>
        <p:nvSpPr>
          <p:cNvPr id="19" name="Shape 17"/>
          <p:cNvSpPr/>
          <p:nvPr/>
        </p:nvSpPr>
        <p:spPr>
          <a:xfrm>
            <a:off x="548640" y="3977640"/>
            <a:ext cx="3566160" cy="2011680"/>
          </a:xfrm>
          <a:prstGeom prst="roundRect">
            <a:avLst>
              <a:gd name="adj" fmla="val 3182"/>
            </a:avLst>
          </a:prstGeom>
          <a:solidFill>
            <a:srgbClr val="F7F7F8"/>
          </a:solidFill>
          <a:ln w="12700">
            <a:solidFill>
              <a:srgbClr val="E4E6EC"/>
            </a:solidFill>
            <a:prstDash val="solid"/>
          </a:ln>
        </p:spPr>
      </p:sp>
      <p:sp>
        <p:nvSpPr>
          <p:cNvPr id="20" name="Shape 18"/>
          <p:cNvSpPr/>
          <p:nvPr/>
        </p:nvSpPr>
        <p:spPr>
          <a:xfrm>
            <a:off x="777240" y="4206240"/>
            <a:ext cx="457200" cy="457200"/>
          </a:xfrm>
          <a:prstGeom prst="ellipse">
            <a:avLst/>
          </a:prstGeom>
          <a:solidFill>
            <a:srgbClr val="F85606"/>
          </a:solidFill>
          <a:ln/>
        </p:spPr>
      </p:sp>
      <p:sp>
        <p:nvSpPr>
          <p:cNvPr id="21" name="Text 19"/>
          <p:cNvSpPr/>
          <p:nvPr/>
        </p:nvSpPr>
        <p:spPr>
          <a:xfrm>
            <a:off x="777240" y="4206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77240" y="4846320"/>
            <a:ext cx="3108960" cy="502920"/>
          </a:xfrm>
          <a:prstGeom prst="rect">
            <a:avLst/>
          </a:prstGeom>
          <a:noFill/>
          <a:ln/>
        </p:spPr>
        <p:txBody>
          <a:bodyPr wrap="square" lIns="0" tIns="0" rIns="0" bIns="0" rtlCol="0" anchor="ctr"/>
          <a:lstStyle/>
          <a:p>
            <a:pPr indent="0" marL="0">
              <a:buNone/>
            </a:pPr>
            <a:r>
              <a:rPr lang="en-US" sz="1450" b="1" dirty="0">
                <a:solidFill>
                  <a:srgbClr val="17233F"/>
                </a:solidFill>
                <a:latin typeface="Cambria" pitchFamily="34" charset="0"/>
                <a:ea typeface="Cambria" pitchFamily="34" charset="-122"/>
                <a:cs typeface="Cambria" pitchFamily="34" charset="-120"/>
              </a:rPr>
              <a:t>Delivery Service</a:t>
            </a:r>
            <a:endParaRPr lang="en-US" sz="1450" dirty="0"/>
          </a:p>
        </p:txBody>
      </p:sp>
      <p:sp>
        <p:nvSpPr>
          <p:cNvPr id="23" name="Text 21"/>
          <p:cNvSpPr/>
          <p:nvPr/>
        </p:nvSpPr>
        <p:spPr>
          <a:xfrm>
            <a:off x="777240" y="5303520"/>
            <a:ext cx="3108960" cy="594360"/>
          </a:xfrm>
          <a:prstGeom prst="rect">
            <a:avLst/>
          </a:prstGeom>
          <a:noFill/>
          <a:ln/>
        </p:spPr>
        <p:txBody>
          <a:bodyPr wrap="square" lIns="0" tIns="0" rIns="0" bIns="0" rtlCol="0" anchor="ctr"/>
          <a:lstStyle/>
          <a:p>
            <a:pPr indent="0" marL="0">
              <a:lnSpc>
                <a:spcPct val="115000"/>
              </a:lnSpc>
              <a:buNone/>
            </a:pPr>
            <a:r>
              <a:rPr lang="en-US" sz="1080" dirty="0">
                <a:solidFill>
                  <a:srgbClr val="6B7280"/>
                </a:solidFill>
                <a:latin typeface="Calibri" pitchFamily="34" charset="0"/>
                <a:ea typeface="Calibri" pitchFamily="34" charset="-122"/>
                <a:cs typeface="Calibri" pitchFamily="34" charset="-120"/>
              </a:rPr>
              <a:t>Late orders and disputed "failed delivery" statuses</a:t>
            </a:r>
            <a:endParaRPr lang="en-US" sz="1080" dirty="0"/>
          </a:p>
        </p:txBody>
      </p:sp>
      <p:sp>
        <p:nvSpPr>
          <p:cNvPr id="24" name="Shape 22"/>
          <p:cNvSpPr/>
          <p:nvPr/>
        </p:nvSpPr>
        <p:spPr>
          <a:xfrm>
            <a:off x="4297680" y="3977640"/>
            <a:ext cx="3566160" cy="2011680"/>
          </a:xfrm>
          <a:prstGeom prst="roundRect">
            <a:avLst>
              <a:gd name="adj" fmla="val 3182"/>
            </a:avLst>
          </a:prstGeom>
          <a:solidFill>
            <a:srgbClr val="F7F7F8"/>
          </a:solidFill>
          <a:ln w="12700">
            <a:solidFill>
              <a:srgbClr val="E4E6EC"/>
            </a:solidFill>
            <a:prstDash val="solid"/>
          </a:ln>
        </p:spPr>
      </p:sp>
      <p:sp>
        <p:nvSpPr>
          <p:cNvPr id="25" name="Shape 23"/>
          <p:cNvSpPr/>
          <p:nvPr/>
        </p:nvSpPr>
        <p:spPr>
          <a:xfrm>
            <a:off x="4526280" y="4206240"/>
            <a:ext cx="457200" cy="457200"/>
          </a:xfrm>
          <a:prstGeom prst="ellipse">
            <a:avLst/>
          </a:prstGeom>
          <a:solidFill>
            <a:srgbClr val="F85606"/>
          </a:solidFill>
          <a:ln/>
        </p:spPr>
      </p:sp>
      <p:sp>
        <p:nvSpPr>
          <p:cNvPr id="26" name="Text 24"/>
          <p:cNvSpPr/>
          <p:nvPr/>
        </p:nvSpPr>
        <p:spPr>
          <a:xfrm>
            <a:off x="4526280" y="4206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4526280" y="4846320"/>
            <a:ext cx="3108960" cy="502920"/>
          </a:xfrm>
          <a:prstGeom prst="rect">
            <a:avLst/>
          </a:prstGeom>
          <a:noFill/>
          <a:ln/>
        </p:spPr>
        <p:txBody>
          <a:bodyPr wrap="square" lIns="0" tIns="0" rIns="0" bIns="0" rtlCol="0" anchor="ctr"/>
          <a:lstStyle/>
          <a:p>
            <a:pPr indent="0" marL="0">
              <a:buNone/>
            </a:pPr>
            <a:r>
              <a:rPr lang="en-US" sz="1450" b="1" dirty="0">
                <a:solidFill>
                  <a:srgbClr val="17233F"/>
                </a:solidFill>
                <a:latin typeface="Cambria" pitchFamily="34" charset="0"/>
                <a:ea typeface="Cambria" pitchFamily="34" charset="-122"/>
                <a:cs typeface="Cambria" pitchFamily="34" charset="-120"/>
              </a:rPr>
              <a:t>Customer Support</a:t>
            </a:r>
            <a:endParaRPr lang="en-US" sz="1450" dirty="0"/>
          </a:p>
        </p:txBody>
      </p:sp>
      <p:sp>
        <p:nvSpPr>
          <p:cNvPr id="28" name="Text 26"/>
          <p:cNvSpPr/>
          <p:nvPr/>
        </p:nvSpPr>
        <p:spPr>
          <a:xfrm>
            <a:off x="4526280" y="5303520"/>
            <a:ext cx="3108960" cy="594360"/>
          </a:xfrm>
          <a:prstGeom prst="rect">
            <a:avLst/>
          </a:prstGeom>
          <a:noFill/>
          <a:ln/>
        </p:spPr>
        <p:txBody>
          <a:bodyPr wrap="square" lIns="0" tIns="0" rIns="0" bIns="0" rtlCol="0" anchor="ctr"/>
          <a:lstStyle/>
          <a:p>
            <a:pPr indent="0" marL="0">
              <a:lnSpc>
                <a:spcPct val="115000"/>
              </a:lnSpc>
              <a:buNone/>
            </a:pPr>
            <a:r>
              <a:rPr lang="en-US" sz="1080" dirty="0">
                <a:solidFill>
                  <a:srgbClr val="6B7280"/>
                </a:solidFill>
                <a:latin typeface="Calibri" pitchFamily="34" charset="0"/>
                <a:ea typeface="Calibri" pitchFamily="34" charset="-122"/>
                <a:cs typeface="Calibri" pitchFamily="34" charset="-120"/>
              </a:rPr>
              <a:t>Hard to reach a real agent; slow seller replies</a:t>
            </a:r>
            <a:endParaRPr lang="en-US" sz="1080" dirty="0"/>
          </a:p>
        </p:txBody>
      </p:sp>
      <p:sp>
        <p:nvSpPr>
          <p:cNvPr id="29" name="Text 27"/>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30" name="Text 28"/>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2 · INITIAL FEASIBILITY STUDY</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Five Simple Checks Before Fixing Anything</a:t>
            </a:r>
            <a:endParaRPr lang="en-US" sz="3200" dirty="0"/>
          </a:p>
        </p:txBody>
      </p:sp>
      <p:sp>
        <p:nvSpPr>
          <p:cNvPr id="4" name="Text 2"/>
          <p:cNvSpPr/>
          <p:nvPr/>
        </p:nvSpPr>
        <p:spPr>
          <a:xfrm>
            <a:off x="548640" y="1600200"/>
            <a:ext cx="10881360" cy="45720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Before designing a fix, we asked: is it realistic? We checked every problem against five standard feasibility areas.</a:t>
            </a:r>
            <a:endParaRPr lang="en-US" sz="1350" dirty="0"/>
          </a:p>
        </p:txBody>
      </p:sp>
      <p:sp>
        <p:nvSpPr>
          <p:cNvPr id="5" name="Shape 3"/>
          <p:cNvSpPr/>
          <p:nvPr/>
        </p:nvSpPr>
        <p:spPr>
          <a:xfrm>
            <a:off x="548640" y="2331720"/>
            <a:ext cx="2066544" cy="3108960"/>
          </a:xfrm>
          <a:prstGeom prst="roundRect">
            <a:avLst>
              <a:gd name="adj" fmla="val 3097"/>
            </a:avLst>
          </a:prstGeom>
          <a:solidFill>
            <a:srgbClr val="F7F7F8"/>
          </a:solidFill>
          <a:ln/>
        </p:spPr>
      </p:sp>
      <p:sp>
        <p:nvSpPr>
          <p:cNvPr id="6" name="Shape 4"/>
          <p:cNvSpPr/>
          <p:nvPr/>
        </p:nvSpPr>
        <p:spPr>
          <a:xfrm>
            <a:off x="1330452" y="2651760"/>
            <a:ext cx="502920" cy="502920"/>
          </a:xfrm>
          <a:prstGeom prst="ellipse">
            <a:avLst/>
          </a:prstGeom>
          <a:solidFill>
            <a:srgbClr val="17233F"/>
          </a:solidFill>
          <a:ln/>
        </p:spPr>
      </p:sp>
      <p:sp>
        <p:nvSpPr>
          <p:cNvPr id="7" name="Text 5"/>
          <p:cNvSpPr/>
          <p:nvPr/>
        </p:nvSpPr>
        <p:spPr>
          <a:xfrm>
            <a:off x="1330452" y="2651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685800" y="3383280"/>
            <a:ext cx="1792224" cy="457200"/>
          </a:xfrm>
          <a:prstGeom prst="rect">
            <a:avLst/>
          </a:prstGeom>
          <a:noFill/>
          <a:ln/>
        </p:spPr>
        <p:txBody>
          <a:bodyPr wrap="square" lIns="0" tIns="0" rIns="0" bIns="0" rtlCol="0" anchor="ctr"/>
          <a:lstStyle/>
          <a:p>
            <a:pPr algn="ctr" indent="0" marL="0">
              <a:buNone/>
            </a:pPr>
            <a:r>
              <a:rPr lang="en-US" sz="1500" b="1" dirty="0">
                <a:solidFill>
                  <a:srgbClr val="17233F"/>
                </a:solidFill>
                <a:latin typeface="Cambria" pitchFamily="34" charset="0"/>
                <a:ea typeface="Cambria" pitchFamily="34" charset="-122"/>
                <a:cs typeface="Cambria" pitchFamily="34" charset="-120"/>
              </a:rPr>
              <a:t>Technical</a:t>
            </a:r>
            <a:endParaRPr lang="en-US" sz="1500" dirty="0"/>
          </a:p>
        </p:txBody>
      </p:sp>
      <p:sp>
        <p:nvSpPr>
          <p:cNvPr id="9" name="Text 7"/>
          <p:cNvSpPr/>
          <p:nvPr/>
        </p:nvSpPr>
        <p:spPr>
          <a:xfrm>
            <a:off x="731520" y="3886200"/>
            <a:ext cx="1700784" cy="1280160"/>
          </a:xfrm>
          <a:prstGeom prst="rect">
            <a:avLst/>
          </a:prstGeom>
          <a:noFill/>
          <a:ln/>
        </p:spPr>
        <p:txBody>
          <a:bodyPr wrap="square" lIns="0" tIns="0" rIns="0" bIns="0" rtlCol="0" anchor="ctr"/>
          <a:lstStyle/>
          <a:p>
            <a:pPr algn="ctr" indent="0" marL="0">
              <a:lnSpc>
                <a:spcPct val="120000"/>
              </a:lnSpc>
              <a:buNone/>
            </a:pPr>
            <a:r>
              <a:rPr lang="en-US" sz="1080" dirty="0">
                <a:solidFill>
                  <a:srgbClr val="6B7280"/>
                </a:solidFill>
                <a:latin typeface="Calibri" pitchFamily="34" charset="0"/>
                <a:ea typeface="Calibri" pitchFamily="34" charset="-122"/>
                <a:cs typeface="Calibri" pitchFamily="34" charset="-120"/>
              </a:rPr>
              <a:t>Does the technology to fix it already exist?</a:t>
            </a:r>
            <a:endParaRPr lang="en-US" sz="1080" dirty="0"/>
          </a:p>
        </p:txBody>
      </p:sp>
      <p:sp>
        <p:nvSpPr>
          <p:cNvPr id="10" name="Shape 8"/>
          <p:cNvSpPr/>
          <p:nvPr/>
        </p:nvSpPr>
        <p:spPr>
          <a:xfrm>
            <a:off x="2798064" y="2331720"/>
            <a:ext cx="2066544" cy="3108960"/>
          </a:xfrm>
          <a:prstGeom prst="roundRect">
            <a:avLst>
              <a:gd name="adj" fmla="val 3097"/>
            </a:avLst>
          </a:prstGeom>
          <a:solidFill>
            <a:srgbClr val="17233F"/>
          </a:solidFill>
          <a:ln/>
        </p:spPr>
      </p:sp>
      <p:sp>
        <p:nvSpPr>
          <p:cNvPr id="11" name="Shape 9"/>
          <p:cNvSpPr/>
          <p:nvPr/>
        </p:nvSpPr>
        <p:spPr>
          <a:xfrm>
            <a:off x="3579876" y="2651760"/>
            <a:ext cx="502920" cy="502920"/>
          </a:xfrm>
          <a:prstGeom prst="ellipse">
            <a:avLst/>
          </a:prstGeom>
          <a:solidFill>
            <a:srgbClr val="F85606"/>
          </a:solidFill>
          <a:ln/>
        </p:spPr>
      </p:sp>
      <p:sp>
        <p:nvSpPr>
          <p:cNvPr id="12" name="Text 10"/>
          <p:cNvSpPr/>
          <p:nvPr/>
        </p:nvSpPr>
        <p:spPr>
          <a:xfrm>
            <a:off x="3579876" y="2651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935224" y="3383280"/>
            <a:ext cx="1792224"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Economic</a:t>
            </a:r>
            <a:endParaRPr lang="en-US" sz="1500" dirty="0"/>
          </a:p>
        </p:txBody>
      </p:sp>
      <p:sp>
        <p:nvSpPr>
          <p:cNvPr id="14" name="Text 12"/>
          <p:cNvSpPr/>
          <p:nvPr/>
        </p:nvSpPr>
        <p:spPr>
          <a:xfrm>
            <a:off x="2980944" y="3886200"/>
            <a:ext cx="1700784" cy="1280160"/>
          </a:xfrm>
          <a:prstGeom prst="rect">
            <a:avLst/>
          </a:prstGeom>
          <a:noFill/>
          <a:ln/>
        </p:spPr>
        <p:txBody>
          <a:bodyPr wrap="square" lIns="0" tIns="0" rIns="0" bIns="0" rtlCol="0" anchor="ctr"/>
          <a:lstStyle/>
          <a:p>
            <a:pPr algn="ctr" indent="0" marL="0">
              <a:lnSpc>
                <a:spcPct val="120000"/>
              </a:lnSpc>
              <a:buNone/>
            </a:pPr>
            <a:r>
              <a:rPr lang="en-US" sz="1080" dirty="0">
                <a:solidFill>
                  <a:srgbClr val="AAB4C8"/>
                </a:solidFill>
                <a:latin typeface="Calibri" pitchFamily="34" charset="0"/>
                <a:ea typeface="Calibri" pitchFamily="34" charset="-122"/>
                <a:cs typeface="Calibri" pitchFamily="34" charset="-120"/>
              </a:rPr>
              <a:t>Do the benefits outweigh the cost?</a:t>
            </a:r>
            <a:endParaRPr lang="en-US" sz="1080" dirty="0"/>
          </a:p>
        </p:txBody>
      </p:sp>
      <p:sp>
        <p:nvSpPr>
          <p:cNvPr id="15" name="Shape 13"/>
          <p:cNvSpPr/>
          <p:nvPr/>
        </p:nvSpPr>
        <p:spPr>
          <a:xfrm>
            <a:off x="5047488" y="2331720"/>
            <a:ext cx="2066544" cy="3108960"/>
          </a:xfrm>
          <a:prstGeom prst="roundRect">
            <a:avLst>
              <a:gd name="adj" fmla="val 3097"/>
            </a:avLst>
          </a:prstGeom>
          <a:solidFill>
            <a:srgbClr val="F7F7F8"/>
          </a:solidFill>
          <a:ln/>
        </p:spPr>
      </p:sp>
      <p:sp>
        <p:nvSpPr>
          <p:cNvPr id="16" name="Shape 14"/>
          <p:cNvSpPr/>
          <p:nvPr/>
        </p:nvSpPr>
        <p:spPr>
          <a:xfrm>
            <a:off x="5829300" y="2651760"/>
            <a:ext cx="502920" cy="502920"/>
          </a:xfrm>
          <a:prstGeom prst="ellipse">
            <a:avLst/>
          </a:prstGeom>
          <a:solidFill>
            <a:srgbClr val="17233F"/>
          </a:solidFill>
          <a:ln/>
        </p:spPr>
      </p:sp>
      <p:sp>
        <p:nvSpPr>
          <p:cNvPr id="17" name="Text 15"/>
          <p:cNvSpPr/>
          <p:nvPr/>
        </p:nvSpPr>
        <p:spPr>
          <a:xfrm>
            <a:off x="5829300" y="2651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5184648" y="3383280"/>
            <a:ext cx="1792224" cy="457200"/>
          </a:xfrm>
          <a:prstGeom prst="rect">
            <a:avLst/>
          </a:prstGeom>
          <a:noFill/>
          <a:ln/>
        </p:spPr>
        <p:txBody>
          <a:bodyPr wrap="square" lIns="0" tIns="0" rIns="0" bIns="0" rtlCol="0" anchor="ctr"/>
          <a:lstStyle/>
          <a:p>
            <a:pPr algn="ctr" indent="0" marL="0">
              <a:buNone/>
            </a:pPr>
            <a:r>
              <a:rPr lang="en-US" sz="1500" b="1" dirty="0">
                <a:solidFill>
                  <a:srgbClr val="17233F"/>
                </a:solidFill>
                <a:latin typeface="Cambria" pitchFamily="34" charset="0"/>
                <a:ea typeface="Cambria" pitchFamily="34" charset="-122"/>
                <a:cs typeface="Cambria" pitchFamily="34" charset="-120"/>
              </a:rPr>
              <a:t>Operational</a:t>
            </a:r>
            <a:endParaRPr lang="en-US" sz="1500" dirty="0"/>
          </a:p>
        </p:txBody>
      </p:sp>
      <p:sp>
        <p:nvSpPr>
          <p:cNvPr id="19" name="Text 17"/>
          <p:cNvSpPr/>
          <p:nvPr/>
        </p:nvSpPr>
        <p:spPr>
          <a:xfrm>
            <a:off x="5230368" y="3886200"/>
            <a:ext cx="1700784" cy="1280160"/>
          </a:xfrm>
          <a:prstGeom prst="rect">
            <a:avLst/>
          </a:prstGeom>
          <a:noFill/>
          <a:ln/>
        </p:spPr>
        <p:txBody>
          <a:bodyPr wrap="square" lIns="0" tIns="0" rIns="0" bIns="0" rtlCol="0" anchor="ctr"/>
          <a:lstStyle/>
          <a:p>
            <a:pPr algn="ctr" indent="0" marL="0">
              <a:lnSpc>
                <a:spcPct val="120000"/>
              </a:lnSpc>
              <a:buNone/>
            </a:pPr>
            <a:r>
              <a:rPr lang="en-US" sz="1080" dirty="0">
                <a:solidFill>
                  <a:srgbClr val="6B7280"/>
                </a:solidFill>
                <a:latin typeface="Calibri" pitchFamily="34" charset="0"/>
                <a:ea typeface="Calibri" pitchFamily="34" charset="-122"/>
                <a:cs typeface="Calibri" pitchFamily="34" charset="-120"/>
              </a:rPr>
              <a:t>Will it fit how Daraz already works?</a:t>
            </a:r>
            <a:endParaRPr lang="en-US" sz="1080" dirty="0"/>
          </a:p>
        </p:txBody>
      </p:sp>
      <p:sp>
        <p:nvSpPr>
          <p:cNvPr id="20" name="Shape 18"/>
          <p:cNvSpPr/>
          <p:nvPr/>
        </p:nvSpPr>
        <p:spPr>
          <a:xfrm>
            <a:off x="7296912" y="2331720"/>
            <a:ext cx="2066544" cy="3108960"/>
          </a:xfrm>
          <a:prstGeom prst="roundRect">
            <a:avLst>
              <a:gd name="adj" fmla="val 3097"/>
            </a:avLst>
          </a:prstGeom>
          <a:solidFill>
            <a:srgbClr val="F7F7F8"/>
          </a:solidFill>
          <a:ln/>
        </p:spPr>
      </p:sp>
      <p:sp>
        <p:nvSpPr>
          <p:cNvPr id="21" name="Shape 19"/>
          <p:cNvSpPr/>
          <p:nvPr/>
        </p:nvSpPr>
        <p:spPr>
          <a:xfrm>
            <a:off x="8078724" y="2651760"/>
            <a:ext cx="502920" cy="502920"/>
          </a:xfrm>
          <a:prstGeom prst="ellipse">
            <a:avLst/>
          </a:prstGeom>
          <a:solidFill>
            <a:srgbClr val="17233F"/>
          </a:solidFill>
          <a:ln/>
        </p:spPr>
      </p:sp>
      <p:sp>
        <p:nvSpPr>
          <p:cNvPr id="22" name="Text 20"/>
          <p:cNvSpPr/>
          <p:nvPr/>
        </p:nvSpPr>
        <p:spPr>
          <a:xfrm>
            <a:off x="8078724" y="2651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7434072" y="3383280"/>
            <a:ext cx="1792224" cy="457200"/>
          </a:xfrm>
          <a:prstGeom prst="rect">
            <a:avLst/>
          </a:prstGeom>
          <a:noFill/>
          <a:ln/>
        </p:spPr>
        <p:txBody>
          <a:bodyPr wrap="square" lIns="0" tIns="0" rIns="0" bIns="0" rtlCol="0" anchor="ctr"/>
          <a:lstStyle/>
          <a:p>
            <a:pPr algn="ctr" indent="0" marL="0">
              <a:buNone/>
            </a:pPr>
            <a:r>
              <a:rPr lang="en-US" sz="1500" b="1" dirty="0">
                <a:solidFill>
                  <a:srgbClr val="17233F"/>
                </a:solidFill>
                <a:latin typeface="Cambria" pitchFamily="34" charset="0"/>
                <a:ea typeface="Cambria" pitchFamily="34" charset="-122"/>
                <a:cs typeface="Cambria" pitchFamily="34" charset="-120"/>
              </a:rPr>
              <a:t>Legal</a:t>
            </a:r>
            <a:endParaRPr lang="en-US" sz="1500" dirty="0"/>
          </a:p>
        </p:txBody>
      </p:sp>
      <p:sp>
        <p:nvSpPr>
          <p:cNvPr id="24" name="Text 22"/>
          <p:cNvSpPr/>
          <p:nvPr/>
        </p:nvSpPr>
        <p:spPr>
          <a:xfrm>
            <a:off x="7479792" y="3886200"/>
            <a:ext cx="1700784" cy="1280160"/>
          </a:xfrm>
          <a:prstGeom prst="rect">
            <a:avLst/>
          </a:prstGeom>
          <a:noFill/>
          <a:ln/>
        </p:spPr>
        <p:txBody>
          <a:bodyPr wrap="square" lIns="0" tIns="0" rIns="0" bIns="0" rtlCol="0" anchor="ctr"/>
          <a:lstStyle/>
          <a:p>
            <a:pPr algn="ctr" indent="0" marL="0">
              <a:lnSpc>
                <a:spcPct val="120000"/>
              </a:lnSpc>
              <a:buNone/>
            </a:pPr>
            <a:r>
              <a:rPr lang="en-US" sz="1080" dirty="0">
                <a:solidFill>
                  <a:srgbClr val="6B7280"/>
                </a:solidFill>
                <a:latin typeface="Calibri" pitchFamily="34" charset="0"/>
                <a:ea typeface="Calibri" pitchFamily="34" charset="-122"/>
                <a:cs typeface="Calibri" pitchFamily="34" charset="-120"/>
              </a:rPr>
              <a:t>Does it follow data &amp; consumer laws?</a:t>
            </a:r>
            <a:endParaRPr lang="en-US" sz="1080" dirty="0"/>
          </a:p>
        </p:txBody>
      </p:sp>
      <p:sp>
        <p:nvSpPr>
          <p:cNvPr id="25" name="Shape 23"/>
          <p:cNvSpPr/>
          <p:nvPr/>
        </p:nvSpPr>
        <p:spPr>
          <a:xfrm>
            <a:off x="9546336" y="2331720"/>
            <a:ext cx="2066544" cy="3108960"/>
          </a:xfrm>
          <a:prstGeom prst="roundRect">
            <a:avLst>
              <a:gd name="adj" fmla="val 3097"/>
            </a:avLst>
          </a:prstGeom>
          <a:solidFill>
            <a:srgbClr val="F7F7F8"/>
          </a:solidFill>
          <a:ln/>
        </p:spPr>
      </p:sp>
      <p:sp>
        <p:nvSpPr>
          <p:cNvPr id="26" name="Shape 24"/>
          <p:cNvSpPr/>
          <p:nvPr/>
        </p:nvSpPr>
        <p:spPr>
          <a:xfrm>
            <a:off x="10328148" y="2651760"/>
            <a:ext cx="502920" cy="502920"/>
          </a:xfrm>
          <a:prstGeom prst="ellipse">
            <a:avLst/>
          </a:prstGeom>
          <a:solidFill>
            <a:srgbClr val="17233F"/>
          </a:solidFill>
          <a:ln/>
        </p:spPr>
      </p:sp>
      <p:sp>
        <p:nvSpPr>
          <p:cNvPr id="27" name="Text 25"/>
          <p:cNvSpPr/>
          <p:nvPr/>
        </p:nvSpPr>
        <p:spPr>
          <a:xfrm>
            <a:off x="10328148" y="2651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9683496" y="3383280"/>
            <a:ext cx="1792224" cy="457200"/>
          </a:xfrm>
          <a:prstGeom prst="rect">
            <a:avLst/>
          </a:prstGeom>
          <a:noFill/>
          <a:ln/>
        </p:spPr>
        <p:txBody>
          <a:bodyPr wrap="square" lIns="0" tIns="0" rIns="0" bIns="0" rtlCol="0" anchor="ctr"/>
          <a:lstStyle/>
          <a:p>
            <a:pPr algn="ctr" indent="0" marL="0">
              <a:buNone/>
            </a:pPr>
            <a:r>
              <a:rPr lang="en-US" sz="1500" b="1" dirty="0">
                <a:solidFill>
                  <a:srgbClr val="17233F"/>
                </a:solidFill>
                <a:latin typeface="Cambria" pitchFamily="34" charset="0"/>
                <a:ea typeface="Cambria" pitchFamily="34" charset="-122"/>
                <a:cs typeface="Cambria" pitchFamily="34" charset="-120"/>
              </a:rPr>
              <a:t>Schedule</a:t>
            </a:r>
            <a:endParaRPr lang="en-US" sz="1500" dirty="0"/>
          </a:p>
        </p:txBody>
      </p:sp>
      <p:sp>
        <p:nvSpPr>
          <p:cNvPr id="29" name="Text 27"/>
          <p:cNvSpPr/>
          <p:nvPr/>
        </p:nvSpPr>
        <p:spPr>
          <a:xfrm>
            <a:off x="9729216" y="3886200"/>
            <a:ext cx="1700784" cy="1280160"/>
          </a:xfrm>
          <a:prstGeom prst="rect">
            <a:avLst/>
          </a:prstGeom>
          <a:noFill/>
          <a:ln/>
        </p:spPr>
        <p:txBody>
          <a:bodyPr wrap="square" lIns="0" tIns="0" rIns="0" bIns="0" rtlCol="0" anchor="ctr"/>
          <a:lstStyle/>
          <a:p>
            <a:pPr algn="ctr" indent="0" marL="0">
              <a:lnSpc>
                <a:spcPct val="120000"/>
              </a:lnSpc>
              <a:buNone/>
            </a:pPr>
            <a:r>
              <a:rPr lang="en-US" sz="1080" dirty="0">
                <a:solidFill>
                  <a:srgbClr val="6B7280"/>
                </a:solidFill>
                <a:latin typeface="Calibri" pitchFamily="34" charset="0"/>
                <a:ea typeface="Calibri" pitchFamily="34" charset="-122"/>
                <a:cs typeface="Calibri" pitchFamily="34" charset="-120"/>
              </a:rPr>
              <a:t>Can it be built in a reasonable time?</a:t>
            </a:r>
            <a:endParaRPr lang="en-US" sz="1080" dirty="0"/>
          </a:p>
        </p:txBody>
      </p:sp>
      <p:sp>
        <p:nvSpPr>
          <p:cNvPr id="30" name="Text 28"/>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31" name="Text 29"/>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2 · INITIAL FEASIBILITY STUDY</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Result: All Five Problems Are Worth Fixing</a:t>
            </a:r>
            <a:endParaRPr lang="en-US" sz="3200" dirty="0"/>
          </a:p>
        </p:txBody>
      </p:sp>
      <p:sp>
        <p:nvSpPr>
          <p:cNvPr id="4" name="Shape 2"/>
          <p:cNvSpPr/>
          <p:nvPr/>
        </p:nvSpPr>
        <p:spPr>
          <a:xfrm>
            <a:off x="548640" y="1737360"/>
            <a:ext cx="5349240" cy="3749040"/>
          </a:xfrm>
          <a:prstGeom prst="roundRect">
            <a:avLst>
              <a:gd name="adj" fmla="val 1951"/>
            </a:avLst>
          </a:prstGeom>
          <a:solidFill>
            <a:srgbClr val="F1F2F5"/>
          </a:solidFill>
          <a:ln/>
        </p:spPr>
      </p:sp>
      <p:sp>
        <p:nvSpPr>
          <p:cNvPr id="5" name="Text 3"/>
          <p:cNvSpPr/>
          <p:nvPr/>
        </p:nvSpPr>
        <p:spPr>
          <a:xfrm>
            <a:off x="868680" y="1965960"/>
            <a:ext cx="4754880" cy="320040"/>
          </a:xfrm>
          <a:prstGeom prst="rect">
            <a:avLst/>
          </a:prstGeom>
          <a:noFill/>
          <a:ln/>
        </p:spPr>
        <p:txBody>
          <a:bodyPr wrap="square" lIns="0" tIns="0" rIns="0" bIns="0" rtlCol="0" anchor="ctr"/>
          <a:lstStyle/>
          <a:p>
            <a:pPr indent="0" marL="0">
              <a:buNone/>
            </a:pPr>
            <a:r>
              <a:rPr lang="en-US" sz="1200" b="1" spc="100" kern="0" dirty="0">
                <a:solidFill>
                  <a:srgbClr val="C24405"/>
                </a:solidFill>
                <a:latin typeface="Calibri" pitchFamily="34" charset="0"/>
                <a:ea typeface="Calibri" pitchFamily="34" charset="-122"/>
                <a:cs typeface="Calibri" pitchFamily="34" charset="-120"/>
              </a:rPr>
              <a:t>EASIER &amp; FASTER</a:t>
            </a:r>
            <a:endParaRPr lang="en-US" sz="1200" dirty="0"/>
          </a:p>
        </p:txBody>
      </p:sp>
      <p:sp>
        <p:nvSpPr>
          <p:cNvPr id="6" name="Text 4"/>
          <p:cNvSpPr/>
          <p:nvPr/>
        </p:nvSpPr>
        <p:spPr>
          <a:xfrm>
            <a:off x="868680" y="2331720"/>
            <a:ext cx="4754880" cy="3200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These build on tools Daraz already has:</a:t>
            </a:r>
            <a:endParaRPr lang="en-US" sz="1200" dirty="0"/>
          </a:p>
        </p:txBody>
      </p:sp>
      <p:sp>
        <p:nvSpPr>
          <p:cNvPr id="7" name="Text 5"/>
          <p:cNvSpPr/>
          <p:nvPr/>
        </p:nvSpPr>
        <p:spPr>
          <a:xfrm>
            <a:off x="868680" y="2743200"/>
            <a:ext cx="4754880" cy="411480"/>
          </a:xfrm>
          <a:prstGeom prst="rect">
            <a:avLst/>
          </a:prstGeom>
          <a:noFill/>
          <a:ln/>
        </p:spPr>
        <p:txBody>
          <a:bodyPr wrap="square" lIns="0" tIns="0" rIns="0" bIns="0" rtlCol="0" anchor="ctr"/>
          <a:lstStyle/>
          <a:p>
            <a:pPr indent="0" marL="0">
              <a:buNone/>
            </a:pPr>
            <a:r>
              <a:rPr lang="en-US" sz="1500" b="1" dirty="0">
                <a:solidFill>
                  <a:srgbClr val="17233F"/>
                </a:solidFill>
                <a:latin typeface="Calibri" pitchFamily="34" charset="0"/>
                <a:ea typeface="Calibri" pitchFamily="34" charset="-122"/>
                <a:cs typeface="Calibri" pitchFamily="34" charset="-120"/>
              </a:rPr>
              <a:t>•  Refund &amp; Return Process</a:t>
            </a:r>
            <a:endParaRPr lang="en-US" sz="1500" dirty="0"/>
          </a:p>
        </p:txBody>
      </p:sp>
      <p:sp>
        <p:nvSpPr>
          <p:cNvPr id="8" name="Text 6"/>
          <p:cNvSpPr/>
          <p:nvPr/>
        </p:nvSpPr>
        <p:spPr>
          <a:xfrm>
            <a:off x="868680" y="3246120"/>
            <a:ext cx="4754880" cy="411480"/>
          </a:xfrm>
          <a:prstGeom prst="rect">
            <a:avLst/>
          </a:prstGeom>
          <a:noFill/>
          <a:ln/>
        </p:spPr>
        <p:txBody>
          <a:bodyPr wrap="square" lIns="0" tIns="0" rIns="0" bIns="0" rtlCol="0" anchor="ctr"/>
          <a:lstStyle/>
          <a:p>
            <a:pPr indent="0" marL="0">
              <a:buNone/>
            </a:pPr>
            <a:r>
              <a:rPr lang="en-US" sz="1500" b="1" dirty="0">
                <a:solidFill>
                  <a:srgbClr val="17233F"/>
                </a:solidFill>
                <a:latin typeface="Calibri" pitchFamily="34" charset="0"/>
                <a:ea typeface="Calibri" pitchFamily="34" charset="-122"/>
                <a:cs typeface="Calibri" pitchFamily="34" charset="-120"/>
              </a:rPr>
              <a:t>•  Delivery Service</a:t>
            </a:r>
            <a:endParaRPr lang="en-US" sz="1500" dirty="0"/>
          </a:p>
        </p:txBody>
      </p:sp>
      <p:sp>
        <p:nvSpPr>
          <p:cNvPr id="9" name="Text 7"/>
          <p:cNvSpPr/>
          <p:nvPr/>
        </p:nvSpPr>
        <p:spPr>
          <a:xfrm>
            <a:off x="868680" y="3749040"/>
            <a:ext cx="4754880" cy="411480"/>
          </a:xfrm>
          <a:prstGeom prst="rect">
            <a:avLst/>
          </a:prstGeom>
          <a:noFill/>
          <a:ln/>
        </p:spPr>
        <p:txBody>
          <a:bodyPr wrap="square" lIns="0" tIns="0" rIns="0" bIns="0" rtlCol="0" anchor="ctr"/>
          <a:lstStyle/>
          <a:p>
            <a:pPr indent="0" marL="0">
              <a:buNone/>
            </a:pPr>
            <a:r>
              <a:rPr lang="en-US" sz="1500" b="1" dirty="0">
                <a:solidFill>
                  <a:srgbClr val="17233F"/>
                </a:solidFill>
                <a:latin typeface="Calibri" pitchFamily="34" charset="0"/>
                <a:ea typeface="Calibri" pitchFamily="34" charset="-122"/>
                <a:cs typeface="Calibri" pitchFamily="34" charset="-120"/>
              </a:rPr>
              <a:t>•  Customer Support</a:t>
            </a:r>
            <a:endParaRPr lang="en-US" sz="1500" dirty="0"/>
          </a:p>
        </p:txBody>
      </p:sp>
      <p:sp>
        <p:nvSpPr>
          <p:cNvPr id="10" name="Shape 8"/>
          <p:cNvSpPr/>
          <p:nvPr/>
        </p:nvSpPr>
        <p:spPr>
          <a:xfrm>
            <a:off x="6263640" y="1737360"/>
            <a:ext cx="5349240" cy="3749040"/>
          </a:xfrm>
          <a:prstGeom prst="roundRect">
            <a:avLst>
              <a:gd name="adj" fmla="val 1951"/>
            </a:avLst>
          </a:prstGeom>
          <a:solidFill>
            <a:srgbClr val="17233F"/>
          </a:solidFill>
          <a:ln/>
        </p:spPr>
      </p:sp>
      <p:sp>
        <p:nvSpPr>
          <p:cNvPr id="11" name="Text 9"/>
          <p:cNvSpPr/>
          <p:nvPr/>
        </p:nvSpPr>
        <p:spPr>
          <a:xfrm>
            <a:off x="6583680" y="1965960"/>
            <a:ext cx="4754880" cy="320040"/>
          </a:xfrm>
          <a:prstGeom prst="rect">
            <a:avLst/>
          </a:prstGeom>
          <a:noFill/>
          <a:ln/>
        </p:spPr>
        <p:txBody>
          <a:bodyPr wrap="square" lIns="0" tIns="0" rIns="0" bIns="0" rtlCol="0" anchor="ctr"/>
          <a:lstStyle/>
          <a:p>
            <a:pPr indent="0" marL="0">
              <a:buNone/>
            </a:pPr>
            <a:r>
              <a:rPr lang="en-US" sz="1200" b="1" spc="100" kern="0" dirty="0">
                <a:solidFill>
                  <a:srgbClr val="F85606"/>
                </a:solidFill>
                <a:latin typeface="Calibri" pitchFamily="34" charset="0"/>
                <a:ea typeface="Calibri" pitchFamily="34" charset="-122"/>
                <a:cs typeface="Calibri" pitchFamily="34" charset="-120"/>
              </a:rPr>
              <a:t>MORE DEMANDING</a:t>
            </a:r>
            <a:endParaRPr lang="en-US" sz="1200" dirty="0"/>
          </a:p>
        </p:txBody>
      </p:sp>
      <p:sp>
        <p:nvSpPr>
          <p:cNvPr id="12" name="Text 10"/>
          <p:cNvSpPr/>
          <p:nvPr/>
        </p:nvSpPr>
        <p:spPr>
          <a:xfrm>
            <a:off x="6583680" y="2331720"/>
            <a:ext cx="4754880" cy="320040"/>
          </a:xfrm>
          <a:prstGeom prst="rect">
            <a:avLst/>
          </a:prstGeom>
          <a:noFill/>
          <a:ln/>
        </p:spPr>
        <p:txBody>
          <a:bodyPr wrap="square" lIns="0" tIns="0" rIns="0" bIns="0" rtlCol="0" anchor="ctr"/>
          <a:lstStyle/>
          <a:p>
            <a:pPr indent="0" marL="0">
              <a:buNone/>
            </a:pPr>
            <a:r>
              <a:rPr lang="en-US" sz="1200" dirty="0">
                <a:solidFill>
                  <a:srgbClr val="AAB4C8"/>
                </a:solidFill>
                <a:latin typeface="Calibri" pitchFamily="34" charset="0"/>
                <a:ea typeface="Calibri" pitchFamily="34" charset="-122"/>
                <a:cs typeface="Calibri" pitchFamily="34" charset="-120"/>
              </a:rPr>
              <a:t>These need new tools and take more effort:</a:t>
            </a:r>
            <a:endParaRPr lang="en-US" sz="1200" dirty="0"/>
          </a:p>
        </p:txBody>
      </p:sp>
      <p:sp>
        <p:nvSpPr>
          <p:cNvPr id="13" name="Text 11"/>
          <p:cNvSpPr/>
          <p:nvPr/>
        </p:nvSpPr>
        <p:spPr>
          <a:xfrm>
            <a:off x="6583680" y="2743200"/>
            <a:ext cx="475488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Product Authenticity</a:t>
            </a:r>
            <a:endParaRPr lang="en-US" sz="1500" dirty="0"/>
          </a:p>
        </p:txBody>
      </p:sp>
      <p:sp>
        <p:nvSpPr>
          <p:cNvPr id="14" name="Text 12"/>
          <p:cNvSpPr/>
          <p:nvPr/>
        </p:nvSpPr>
        <p:spPr>
          <a:xfrm>
            <a:off x="6583680" y="3246120"/>
            <a:ext cx="475488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Account Security &amp; Fraud</a:t>
            </a:r>
            <a:endParaRPr lang="en-US" sz="1500" dirty="0"/>
          </a:p>
        </p:txBody>
      </p:sp>
      <p:sp>
        <p:nvSpPr>
          <p:cNvPr id="15" name="Text 13"/>
          <p:cNvSpPr/>
          <p:nvPr/>
        </p:nvSpPr>
        <p:spPr>
          <a:xfrm>
            <a:off x="6583680" y="4114800"/>
            <a:ext cx="4754880" cy="1097280"/>
          </a:xfrm>
          <a:prstGeom prst="rect">
            <a:avLst/>
          </a:prstGeom>
          <a:noFill/>
          <a:ln/>
        </p:spPr>
        <p:txBody>
          <a:bodyPr wrap="square" lIns="0" tIns="0" rIns="0" bIns="0" rtlCol="0" anchor="ctr"/>
          <a:lstStyle/>
          <a:p>
            <a:pPr indent="0" marL="0">
              <a:lnSpc>
                <a:spcPct val="125000"/>
              </a:lnSpc>
              <a:buNone/>
            </a:pPr>
            <a:r>
              <a:rPr lang="en-US" sz="1150" i="1" dirty="0">
                <a:solidFill>
                  <a:srgbClr val="AAB4C8"/>
                </a:solidFill>
                <a:latin typeface="Calibri" pitchFamily="34" charset="0"/>
                <a:ea typeface="Calibri" pitchFamily="34" charset="-122"/>
                <a:cs typeface="Calibri" pitchFamily="34" charset="-120"/>
              </a:rPr>
              <a:t>Still realistic — just needs a bigger investment, like fraud detection and seller verification tools.</a:t>
            </a:r>
            <a:endParaRPr lang="en-US" sz="1150" dirty="0"/>
          </a:p>
        </p:txBody>
      </p:sp>
      <p:sp>
        <p:nvSpPr>
          <p:cNvPr id="16" name="Text 14"/>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17" name="Text 15"/>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3 · ANALYSIS</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How We Gathered Our Information</a:t>
            </a:r>
            <a:endParaRPr lang="en-US" sz="3200" dirty="0"/>
          </a:p>
        </p:txBody>
      </p:sp>
      <p:sp>
        <p:nvSpPr>
          <p:cNvPr id="4" name="Shape 2"/>
          <p:cNvSpPr/>
          <p:nvPr/>
        </p:nvSpPr>
        <p:spPr>
          <a:xfrm>
            <a:off x="548640" y="1737360"/>
            <a:ext cx="502920" cy="502920"/>
          </a:xfrm>
          <a:prstGeom prst="ellipse">
            <a:avLst/>
          </a:prstGeom>
          <a:solidFill>
            <a:srgbClr val="F85606"/>
          </a:solidFill>
          <a:ln/>
        </p:spPr>
      </p:sp>
      <p:sp>
        <p:nvSpPr>
          <p:cNvPr id="5" name="Text 3"/>
          <p:cNvSpPr/>
          <p:nvPr/>
        </p:nvSpPr>
        <p:spPr>
          <a:xfrm>
            <a:off x="5486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34440" y="1709928"/>
            <a:ext cx="4572000" cy="457200"/>
          </a:xfrm>
          <a:prstGeom prst="rect">
            <a:avLst/>
          </a:prstGeom>
          <a:noFill/>
          <a:ln/>
        </p:spPr>
        <p:txBody>
          <a:bodyPr wrap="square" lIns="0" tIns="0" rIns="0" bIns="0" rtlCol="0" anchor="ctr"/>
          <a:lstStyle/>
          <a:p>
            <a:pPr indent="0" marL="0">
              <a:buNone/>
            </a:pPr>
            <a:r>
              <a:rPr lang="en-US" sz="1600" b="1" dirty="0">
                <a:solidFill>
                  <a:srgbClr val="17233F"/>
                </a:solidFill>
                <a:latin typeface="Cambria" pitchFamily="34" charset="0"/>
                <a:ea typeface="Cambria" pitchFamily="34" charset="-122"/>
                <a:cs typeface="Cambria" pitchFamily="34" charset="-120"/>
              </a:rPr>
              <a:t>Literature &amp; Procedure Review</a:t>
            </a:r>
            <a:endParaRPr lang="en-US" sz="1600" dirty="0"/>
          </a:p>
        </p:txBody>
      </p:sp>
      <p:sp>
        <p:nvSpPr>
          <p:cNvPr id="7" name="Text 5"/>
          <p:cNvSpPr/>
          <p:nvPr/>
        </p:nvSpPr>
        <p:spPr>
          <a:xfrm>
            <a:off x="1234440" y="2194560"/>
            <a:ext cx="4572000" cy="128016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Calibri" pitchFamily="34" charset="0"/>
                <a:ea typeface="Calibri" pitchFamily="34" charset="-122"/>
                <a:cs typeface="Calibri" pitchFamily="34" charset="-120"/>
              </a:rPr>
              <a:t>Studied Daraz's app, forms, policies, and industry best-practices from Amazon, Alibaba, and local rivals.</a:t>
            </a:r>
            <a:endParaRPr lang="en-US" sz="1200" dirty="0"/>
          </a:p>
        </p:txBody>
      </p:sp>
      <p:sp>
        <p:nvSpPr>
          <p:cNvPr id="8" name="Shape 6"/>
          <p:cNvSpPr/>
          <p:nvPr/>
        </p:nvSpPr>
        <p:spPr>
          <a:xfrm>
            <a:off x="6355080" y="1737360"/>
            <a:ext cx="502920" cy="502920"/>
          </a:xfrm>
          <a:prstGeom prst="ellipse">
            <a:avLst/>
          </a:prstGeom>
          <a:solidFill>
            <a:srgbClr val="F85606"/>
          </a:solidFill>
          <a:ln/>
        </p:spPr>
      </p:sp>
      <p:sp>
        <p:nvSpPr>
          <p:cNvPr id="9" name="Text 7"/>
          <p:cNvSpPr/>
          <p:nvPr/>
        </p:nvSpPr>
        <p:spPr>
          <a:xfrm>
            <a:off x="635508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7040880" y="1709928"/>
            <a:ext cx="4572000" cy="457200"/>
          </a:xfrm>
          <a:prstGeom prst="rect">
            <a:avLst/>
          </a:prstGeom>
          <a:noFill/>
          <a:ln/>
        </p:spPr>
        <p:txBody>
          <a:bodyPr wrap="square" lIns="0" tIns="0" rIns="0" bIns="0" rtlCol="0" anchor="ctr"/>
          <a:lstStyle/>
          <a:p>
            <a:pPr indent="0" marL="0">
              <a:buNone/>
            </a:pPr>
            <a:r>
              <a:rPr lang="en-US" sz="1600" b="1" dirty="0">
                <a:solidFill>
                  <a:srgbClr val="17233F"/>
                </a:solidFill>
                <a:latin typeface="Cambria" pitchFamily="34" charset="0"/>
                <a:ea typeface="Cambria" pitchFamily="34" charset="-122"/>
                <a:cs typeface="Cambria" pitchFamily="34" charset="-120"/>
              </a:rPr>
              <a:t>On-Site Observation</a:t>
            </a:r>
            <a:endParaRPr lang="en-US" sz="1600" dirty="0"/>
          </a:p>
        </p:txBody>
      </p:sp>
      <p:sp>
        <p:nvSpPr>
          <p:cNvPr id="11" name="Text 9"/>
          <p:cNvSpPr/>
          <p:nvPr/>
        </p:nvSpPr>
        <p:spPr>
          <a:xfrm>
            <a:off x="7040880" y="2194560"/>
            <a:ext cx="4572000" cy="128016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Calibri" pitchFamily="34" charset="0"/>
                <a:ea typeface="Calibri" pitchFamily="34" charset="-122"/>
                <a:cs typeface="Calibri" pitchFamily="34" charset="-120"/>
              </a:rPr>
              <a:t>Used the Daraz app and website ourselves — from browsing to checkout to tracking an order.</a:t>
            </a:r>
            <a:endParaRPr lang="en-US" sz="1200" dirty="0"/>
          </a:p>
        </p:txBody>
      </p:sp>
      <p:sp>
        <p:nvSpPr>
          <p:cNvPr id="12" name="Shape 10"/>
          <p:cNvSpPr/>
          <p:nvPr/>
        </p:nvSpPr>
        <p:spPr>
          <a:xfrm>
            <a:off x="548640" y="3931920"/>
            <a:ext cx="502920" cy="502920"/>
          </a:xfrm>
          <a:prstGeom prst="ellipse">
            <a:avLst/>
          </a:prstGeom>
          <a:solidFill>
            <a:srgbClr val="F85606"/>
          </a:solidFill>
          <a:ln/>
        </p:spPr>
      </p:sp>
      <p:sp>
        <p:nvSpPr>
          <p:cNvPr id="13" name="Text 11"/>
          <p:cNvSpPr/>
          <p:nvPr/>
        </p:nvSpPr>
        <p:spPr>
          <a:xfrm>
            <a:off x="548640" y="3931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34440" y="3904488"/>
            <a:ext cx="4572000" cy="457200"/>
          </a:xfrm>
          <a:prstGeom prst="rect">
            <a:avLst/>
          </a:prstGeom>
          <a:noFill/>
          <a:ln/>
        </p:spPr>
        <p:txBody>
          <a:bodyPr wrap="square" lIns="0" tIns="0" rIns="0" bIns="0" rtlCol="0" anchor="ctr"/>
          <a:lstStyle/>
          <a:p>
            <a:pPr indent="0" marL="0">
              <a:buNone/>
            </a:pPr>
            <a:r>
              <a:rPr lang="en-US" sz="1600" b="1" dirty="0">
                <a:solidFill>
                  <a:srgbClr val="17233F"/>
                </a:solidFill>
                <a:latin typeface="Cambria" pitchFamily="34" charset="0"/>
                <a:ea typeface="Cambria" pitchFamily="34" charset="-122"/>
                <a:cs typeface="Cambria" pitchFamily="34" charset="-120"/>
              </a:rPr>
              <a:t>Interviews</a:t>
            </a:r>
            <a:endParaRPr lang="en-US" sz="1600" dirty="0"/>
          </a:p>
        </p:txBody>
      </p:sp>
      <p:sp>
        <p:nvSpPr>
          <p:cNvPr id="15" name="Text 13"/>
          <p:cNvSpPr/>
          <p:nvPr/>
        </p:nvSpPr>
        <p:spPr>
          <a:xfrm>
            <a:off x="1234440" y="4389120"/>
            <a:ext cx="4572000" cy="128016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Calibri" pitchFamily="34" charset="0"/>
                <a:ea typeface="Calibri" pitchFamily="34" charset="-122"/>
                <a:cs typeface="Calibri" pitchFamily="34" charset="-120"/>
              </a:rPr>
              <a:t>Called Daraz's real customer care helpline, plus talked to a seller, a customer, and a delivery rider.</a:t>
            </a:r>
            <a:endParaRPr lang="en-US" sz="1200" dirty="0"/>
          </a:p>
        </p:txBody>
      </p:sp>
      <p:sp>
        <p:nvSpPr>
          <p:cNvPr id="16" name="Shape 14"/>
          <p:cNvSpPr/>
          <p:nvPr/>
        </p:nvSpPr>
        <p:spPr>
          <a:xfrm>
            <a:off x="6355080" y="3931920"/>
            <a:ext cx="502920" cy="502920"/>
          </a:xfrm>
          <a:prstGeom prst="ellipse">
            <a:avLst/>
          </a:prstGeom>
          <a:solidFill>
            <a:srgbClr val="F85606"/>
          </a:solidFill>
          <a:ln/>
        </p:spPr>
      </p:sp>
      <p:sp>
        <p:nvSpPr>
          <p:cNvPr id="17" name="Text 15"/>
          <p:cNvSpPr/>
          <p:nvPr/>
        </p:nvSpPr>
        <p:spPr>
          <a:xfrm>
            <a:off x="6355080" y="3931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7040880" y="3904488"/>
            <a:ext cx="4572000" cy="457200"/>
          </a:xfrm>
          <a:prstGeom prst="rect">
            <a:avLst/>
          </a:prstGeom>
          <a:noFill/>
          <a:ln/>
        </p:spPr>
        <p:txBody>
          <a:bodyPr wrap="square" lIns="0" tIns="0" rIns="0" bIns="0" rtlCol="0" anchor="ctr"/>
          <a:lstStyle/>
          <a:p>
            <a:pPr indent="0" marL="0">
              <a:buNone/>
            </a:pPr>
            <a:r>
              <a:rPr lang="en-US" sz="1600" b="1" dirty="0">
                <a:solidFill>
                  <a:srgbClr val="17233F"/>
                </a:solidFill>
                <a:latin typeface="Cambria" pitchFamily="34" charset="0"/>
                <a:ea typeface="Cambria" pitchFamily="34" charset="-122"/>
                <a:cs typeface="Cambria" pitchFamily="34" charset="-120"/>
              </a:rPr>
              <a:t>Questionnaires</a:t>
            </a:r>
            <a:endParaRPr lang="en-US" sz="1600" dirty="0"/>
          </a:p>
        </p:txBody>
      </p:sp>
      <p:sp>
        <p:nvSpPr>
          <p:cNvPr id="19" name="Text 17"/>
          <p:cNvSpPr/>
          <p:nvPr/>
        </p:nvSpPr>
        <p:spPr>
          <a:xfrm>
            <a:off x="7040880" y="4389120"/>
            <a:ext cx="4572000" cy="128016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Calibri" pitchFamily="34" charset="0"/>
                <a:ea typeface="Calibri" pitchFamily="34" charset="-122"/>
                <a:cs typeface="Calibri" pitchFamily="34" charset="-120"/>
              </a:rPr>
              <a:t>Built customer, seller, and app-user questionnaires, then matched them against public reviews.</a:t>
            </a:r>
            <a:endParaRPr lang="en-US" sz="1200" dirty="0"/>
          </a:p>
        </p:txBody>
      </p:sp>
      <p:sp>
        <p:nvSpPr>
          <p:cNvPr id="20" name="Text 18"/>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21" name="Text 19"/>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3 · ANALYSIS</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What the Data Told Us</a:t>
            </a:r>
            <a:endParaRPr lang="en-US" sz="3200" dirty="0"/>
          </a:p>
        </p:txBody>
      </p:sp>
      <p:sp>
        <p:nvSpPr>
          <p:cNvPr id="4" name="Shape 2"/>
          <p:cNvSpPr/>
          <p:nvPr/>
        </p:nvSpPr>
        <p:spPr>
          <a:xfrm>
            <a:off x="548640" y="1737360"/>
            <a:ext cx="5212080" cy="3749040"/>
          </a:xfrm>
          <a:prstGeom prst="roundRect">
            <a:avLst>
              <a:gd name="adj" fmla="val 1707"/>
            </a:avLst>
          </a:prstGeom>
          <a:solidFill>
            <a:srgbClr val="F7F7F8"/>
          </a:solidFill>
          <a:ln/>
        </p:spPr>
      </p:sp>
      <p:sp>
        <p:nvSpPr>
          <p:cNvPr id="5" name="Text 3"/>
          <p:cNvSpPr/>
          <p:nvPr/>
        </p:nvSpPr>
        <p:spPr>
          <a:xfrm>
            <a:off x="822960" y="1920240"/>
            <a:ext cx="4663440" cy="320040"/>
          </a:xfrm>
          <a:prstGeom prst="rect">
            <a:avLst/>
          </a:prstGeom>
          <a:noFill/>
          <a:ln/>
        </p:spPr>
        <p:txBody>
          <a:bodyPr wrap="square" lIns="0" tIns="0" rIns="0" bIns="0" rtlCol="0" anchor="ctr"/>
          <a:lstStyle/>
          <a:p>
            <a:pPr indent="0" marL="0">
              <a:buNone/>
            </a:pPr>
            <a:r>
              <a:rPr lang="en-US" sz="1250" b="1" dirty="0">
                <a:solidFill>
                  <a:srgbClr val="17233F"/>
                </a:solidFill>
                <a:latin typeface="Calibri" pitchFamily="34" charset="0"/>
                <a:ea typeface="Calibri" pitchFamily="34" charset="-122"/>
                <a:cs typeface="Calibri" pitchFamily="34" charset="-120"/>
              </a:rPr>
              <a:t>Top complaint categories in reviews</a:t>
            </a:r>
            <a:endParaRPr lang="en-US" sz="1250" dirty="0"/>
          </a:p>
        </p:txBody>
      </p:sp>
      <p:sp>
        <p:nvSpPr>
          <p:cNvPr id="6" name="Text 4"/>
          <p:cNvSpPr/>
          <p:nvPr/>
        </p:nvSpPr>
        <p:spPr>
          <a:xfrm>
            <a:off x="822960" y="2423160"/>
            <a:ext cx="1280160" cy="457200"/>
          </a:xfrm>
          <a:prstGeom prst="rect">
            <a:avLst/>
          </a:prstGeom>
          <a:noFill/>
          <a:ln/>
        </p:spPr>
        <p:txBody>
          <a:bodyPr wrap="square" lIns="0" tIns="0" rIns="0" bIns="0" rtlCol="0" anchor="ctr"/>
          <a:lstStyle/>
          <a:p>
            <a:pPr indent="0" marL="0">
              <a:buNone/>
            </a:pPr>
            <a:r>
              <a:rPr lang="en-US" sz="1000" dirty="0">
                <a:solidFill>
                  <a:srgbClr val="1F2733"/>
                </a:solidFill>
                <a:latin typeface="Calibri" pitchFamily="34" charset="0"/>
                <a:ea typeface="Calibri" pitchFamily="34" charset="-122"/>
                <a:cs typeface="Calibri" pitchFamily="34" charset="-120"/>
              </a:rPr>
              <a:t>Delivery</a:t>
            </a:r>
            <a:endParaRPr lang="en-US" sz="1000" dirty="0"/>
          </a:p>
        </p:txBody>
      </p:sp>
      <p:sp>
        <p:nvSpPr>
          <p:cNvPr id="7" name="Shape 5"/>
          <p:cNvSpPr/>
          <p:nvPr/>
        </p:nvSpPr>
        <p:spPr>
          <a:xfrm>
            <a:off x="2148840" y="2551176"/>
            <a:ext cx="3337560" cy="201168"/>
          </a:xfrm>
          <a:prstGeom prst="roundRect">
            <a:avLst>
              <a:gd name="adj" fmla="val 13636"/>
            </a:avLst>
          </a:prstGeom>
          <a:solidFill>
            <a:srgbClr val="F85606"/>
          </a:solidFill>
          <a:ln/>
        </p:spPr>
      </p:sp>
      <p:sp>
        <p:nvSpPr>
          <p:cNvPr id="8" name="Text 6"/>
          <p:cNvSpPr/>
          <p:nvPr/>
        </p:nvSpPr>
        <p:spPr>
          <a:xfrm>
            <a:off x="822960" y="2953512"/>
            <a:ext cx="1280160" cy="457200"/>
          </a:xfrm>
          <a:prstGeom prst="rect">
            <a:avLst/>
          </a:prstGeom>
          <a:noFill/>
          <a:ln/>
        </p:spPr>
        <p:txBody>
          <a:bodyPr wrap="square" lIns="0" tIns="0" rIns="0" bIns="0" rtlCol="0" anchor="ctr"/>
          <a:lstStyle/>
          <a:p>
            <a:pPr indent="0" marL="0">
              <a:buNone/>
            </a:pPr>
            <a:r>
              <a:rPr lang="en-US" sz="1000" dirty="0">
                <a:solidFill>
                  <a:srgbClr val="1F2733"/>
                </a:solidFill>
                <a:latin typeface="Calibri" pitchFamily="34" charset="0"/>
                <a:ea typeface="Calibri" pitchFamily="34" charset="-122"/>
                <a:cs typeface="Calibri" pitchFamily="34" charset="-120"/>
              </a:rPr>
              <a:t>Refund &amp; Return</a:t>
            </a:r>
            <a:endParaRPr lang="en-US" sz="1000" dirty="0"/>
          </a:p>
        </p:txBody>
      </p:sp>
      <p:sp>
        <p:nvSpPr>
          <p:cNvPr id="9" name="Shape 7"/>
          <p:cNvSpPr/>
          <p:nvPr/>
        </p:nvSpPr>
        <p:spPr>
          <a:xfrm>
            <a:off x="2148840" y="3081528"/>
            <a:ext cx="3070555" cy="201168"/>
          </a:xfrm>
          <a:prstGeom prst="roundRect">
            <a:avLst>
              <a:gd name="adj" fmla="val 13636"/>
            </a:avLst>
          </a:prstGeom>
          <a:solidFill>
            <a:srgbClr val="F85606"/>
          </a:solidFill>
          <a:ln/>
        </p:spPr>
      </p:sp>
      <p:sp>
        <p:nvSpPr>
          <p:cNvPr id="10" name="Text 8"/>
          <p:cNvSpPr/>
          <p:nvPr/>
        </p:nvSpPr>
        <p:spPr>
          <a:xfrm>
            <a:off x="822960" y="3483864"/>
            <a:ext cx="1280160" cy="457200"/>
          </a:xfrm>
          <a:prstGeom prst="rect">
            <a:avLst/>
          </a:prstGeom>
          <a:noFill/>
          <a:ln/>
        </p:spPr>
        <p:txBody>
          <a:bodyPr wrap="square" lIns="0" tIns="0" rIns="0" bIns="0" rtlCol="0" anchor="ctr"/>
          <a:lstStyle/>
          <a:p>
            <a:pPr indent="0" marL="0">
              <a:buNone/>
            </a:pPr>
            <a:r>
              <a:rPr lang="en-US" sz="1000" dirty="0">
                <a:solidFill>
                  <a:srgbClr val="1F2733"/>
                </a:solidFill>
                <a:latin typeface="Calibri" pitchFamily="34" charset="0"/>
                <a:ea typeface="Calibri" pitchFamily="34" charset="-122"/>
                <a:cs typeface="Calibri" pitchFamily="34" charset="-120"/>
              </a:rPr>
              <a:t>Product Authenticity</a:t>
            </a:r>
            <a:endParaRPr lang="en-US" sz="1000" dirty="0"/>
          </a:p>
        </p:txBody>
      </p:sp>
      <p:sp>
        <p:nvSpPr>
          <p:cNvPr id="11" name="Shape 9"/>
          <p:cNvSpPr/>
          <p:nvPr/>
        </p:nvSpPr>
        <p:spPr>
          <a:xfrm>
            <a:off x="2148840" y="3611880"/>
            <a:ext cx="2269541" cy="201168"/>
          </a:xfrm>
          <a:prstGeom prst="roundRect">
            <a:avLst>
              <a:gd name="adj" fmla="val 13636"/>
            </a:avLst>
          </a:prstGeom>
          <a:solidFill>
            <a:srgbClr val="17233F"/>
          </a:solidFill>
          <a:ln/>
        </p:spPr>
      </p:sp>
      <p:sp>
        <p:nvSpPr>
          <p:cNvPr id="12" name="Text 10"/>
          <p:cNvSpPr/>
          <p:nvPr/>
        </p:nvSpPr>
        <p:spPr>
          <a:xfrm>
            <a:off x="822960" y="4014216"/>
            <a:ext cx="1280160" cy="457200"/>
          </a:xfrm>
          <a:prstGeom prst="rect">
            <a:avLst/>
          </a:prstGeom>
          <a:noFill/>
          <a:ln/>
        </p:spPr>
        <p:txBody>
          <a:bodyPr wrap="square" lIns="0" tIns="0" rIns="0" bIns="0" rtlCol="0" anchor="ctr"/>
          <a:lstStyle/>
          <a:p>
            <a:pPr indent="0" marL="0">
              <a:buNone/>
            </a:pPr>
            <a:r>
              <a:rPr lang="en-US" sz="1000" dirty="0">
                <a:solidFill>
                  <a:srgbClr val="1F2733"/>
                </a:solidFill>
                <a:latin typeface="Calibri" pitchFamily="34" charset="0"/>
                <a:ea typeface="Calibri" pitchFamily="34" charset="-122"/>
                <a:cs typeface="Calibri" pitchFamily="34" charset="-120"/>
              </a:rPr>
              <a:t>Customer Support</a:t>
            </a:r>
            <a:endParaRPr lang="en-US" sz="1000" dirty="0"/>
          </a:p>
        </p:txBody>
      </p:sp>
      <p:sp>
        <p:nvSpPr>
          <p:cNvPr id="13" name="Shape 11"/>
          <p:cNvSpPr/>
          <p:nvPr/>
        </p:nvSpPr>
        <p:spPr>
          <a:xfrm>
            <a:off x="2148840" y="4142232"/>
            <a:ext cx="1668780" cy="201168"/>
          </a:xfrm>
          <a:prstGeom prst="roundRect">
            <a:avLst>
              <a:gd name="adj" fmla="val 13636"/>
            </a:avLst>
          </a:prstGeom>
          <a:solidFill>
            <a:srgbClr val="17233F"/>
          </a:solidFill>
          <a:ln/>
        </p:spPr>
      </p:sp>
      <p:sp>
        <p:nvSpPr>
          <p:cNvPr id="14" name="Text 12"/>
          <p:cNvSpPr/>
          <p:nvPr/>
        </p:nvSpPr>
        <p:spPr>
          <a:xfrm>
            <a:off x="822960" y="4544568"/>
            <a:ext cx="1280160" cy="457200"/>
          </a:xfrm>
          <a:prstGeom prst="rect">
            <a:avLst/>
          </a:prstGeom>
          <a:noFill/>
          <a:ln/>
        </p:spPr>
        <p:txBody>
          <a:bodyPr wrap="square" lIns="0" tIns="0" rIns="0" bIns="0" rtlCol="0" anchor="ctr"/>
          <a:lstStyle/>
          <a:p>
            <a:pPr indent="0" marL="0">
              <a:buNone/>
            </a:pPr>
            <a:r>
              <a:rPr lang="en-US" sz="1000" dirty="0">
                <a:solidFill>
                  <a:srgbClr val="1F2733"/>
                </a:solidFill>
                <a:latin typeface="Calibri" pitchFamily="34" charset="0"/>
                <a:ea typeface="Calibri" pitchFamily="34" charset="-122"/>
                <a:cs typeface="Calibri" pitchFamily="34" charset="-120"/>
              </a:rPr>
              <a:t>Account Security</a:t>
            </a:r>
            <a:endParaRPr lang="en-US" sz="1000" dirty="0"/>
          </a:p>
        </p:txBody>
      </p:sp>
      <p:sp>
        <p:nvSpPr>
          <p:cNvPr id="15" name="Shape 13"/>
          <p:cNvSpPr/>
          <p:nvPr/>
        </p:nvSpPr>
        <p:spPr>
          <a:xfrm>
            <a:off x="2148840" y="4672584"/>
            <a:ext cx="1101395" cy="201168"/>
          </a:xfrm>
          <a:prstGeom prst="roundRect">
            <a:avLst>
              <a:gd name="adj" fmla="val 13636"/>
            </a:avLst>
          </a:prstGeom>
          <a:solidFill>
            <a:srgbClr val="17233F"/>
          </a:solidFill>
          <a:ln/>
        </p:spPr>
      </p:sp>
      <p:sp>
        <p:nvSpPr>
          <p:cNvPr id="16" name="Text 14"/>
          <p:cNvSpPr/>
          <p:nvPr/>
        </p:nvSpPr>
        <p:spPr>
          <a:xfrm>
            <a:off x="822960" y="5074920"/>
            <a:ext cx="4663440" cy="36576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Delivery and refund complaints dominate — that's where the fix must focus first.</a:t>
            </a:r>
            <a:endParaRPr lang="en-US" sz="1050" dirty="0"/>
          </a:p>
        </p:txBody>
      </p:sp>
      <p:sp>
        <p:nvSpPr>
          <p:cNvPr id="17" name="Shape 15"/>
          <p:cNvSpPr/>
          <p:nvPr/>
        </p:nvSpPr>
        <p:spPr>
          <a:xfrm>
            <a:off x="6035040" y="1737360"/>
            <a:ext cx="5577840" cy="1737360"/>
          </a:xfrm>
          <a:prstGeom prst="roundRect">
            <a:avLst>
              <a:gd name="adj" fmla="val 3684"/>
            </a:avLst>
          </a:prstGeom>
          <a:solidFill>
            <a:srgbClr val="F7F7F8"/>
          </a:solidFill>
          <a:ln/>
        </p:spPr>
      </p:sp>
      <p:sp>
        <p:nvSpPr>
          <p:cNvPr id="18" name="Text 16"/>
          <p:cNvSpPr/>
          <p:nvPr/>
        </p:nvSpPr>
        <p:spPr>
          <a:xfrm>
            <a:off x="6309360" y="1920240"/>
            <a:ext cx="5029200" cy="320040"/>
          </a:xfrm>
          <a:prstGeom prst="rect">
            <a:avLst/>
          </a:prstGeom>
          <a:noFill/>
          <a:ln/>
        </p:spPr>
        <p:txBody>
          <a:bodyPr wrap="square" lIns="0" tIns="0" rIns="0" bIns="0" rtlCol="0" anchor="ctr"/>
          <a:lstStyle/>
          <a:p>
            <a:pPr indent="0" marL="0">
              <a:buNone/>
            </a:pPr>
            <a:r>
              <a:rPr lang="en-US" sz="1250" b="1" dirty="0">
                <a:solidFill>
                  <a:srgbClr val="17233F"/>
                </a:solidFill>
                <a:latin typeface="Calibri" pitchFamily="34" charset="0"/>
                <a:ea typeface="Calibri" pitchFamily="34" charset="-122"/>
                <a:cs typeface="Calibri" pitchFamily="34" charset="-120"/>
              </a:rPr>
              <a:t>DFD of the Existing System</a:t>
            </a:r>
            <a:endParaRPr lang="en-US" sz="1250" dirty="0"/>
          </a:p>
        </p:txBody>
      </p:sp>
      <p:sp>
        <p:nvSpPr>
          <p:cNvPr id="19" name="Text 17"/>
          <p:cNvSpPr/>
          <p:nvPr/>
        </p:nvSpPr>
        <p:spPr>
          <a:xfrm>
            <a:off x="6309360" y="2286000"/>
            <a:ext cx="5029200" cy="109728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Calibri" pitchFamily="34" charset="0"/>
                <a:ea typeface="Calibri" pitchFamily="34" charset="-122"/>
                <a:cs typeface="Calibri" pitchFamily="34" charset="-120"/>
              </a:rPr>
              <a:t>An 8-process data flow diagram — from Browse &amp; Search to Deliver Order and Return &amp; Refund — maps exactly where each of the 5 problems occurs in the workflow.</a:t>
            </a:r>
            <a:endParaRPr lang="en-US" sz="1150" dirty="0"/>
          </a:p>
        </p:txBody>
      </p:sp>
      <p:sp>
        <p:nvSpPr>
          <p:cNvPr id="20" name="Shape 18"/>
          <p:cNvSpPr/>
          <p:nvPr/>
        </p:nvSpPr>
        <p:spPr>
          <a:xfrm>
            <a:off x="6035040" y="3611880"/>
            <a:ext cx="5577840" cy="1874520"/>
          </a:xfrm>
          <a:prstGeom prst="roundRect">
            <a:avLst>
              <a:gd name="adj" fmla="val 3415"/>
            </a:avLst>
          </a:prstGeom>
          <a:solidFill>
            <a:srgbClr val="17233F"/>
          </a:solidFill>
          <a:ln/>
        </p:spPr>
      </p:sp>
      <p:sp>
        <p:nvSpPr>
          <p:cNvPr id="21" name="Text 19"/>
          <p:cNvSpPr/>
          <p:nvPr/>
        </p:nvSpPr>
        <p:spPr>
          <a:xfrm>
            <a:off x="6309360" y="3794760"/>
            <a:ext cx="5029200" cy="320040"/>
          </a:xfrm>
          <a:prstGeom prst="rect">
            <a:avLst/>
          </a:prstGeom>
          <a:noFill/>
          <a:ln/>
        </p:spPr>
        <p:txBody>
          <a:bodyPr wrap="square" lIns="0" tIns="0" rIns="0" bIns="0" rtlCol="0" anchor="ctr"/>
          <a:lstStyle/>
          <a:p>
            <a:pPr indent="0" marL="0">
              <a:buNone/>
            </a:pPr>
            <a:r>
              <a:rPr lang="en-US" sz="1250" b="1" dirty="0">
                <a:solidFill>
                  <a:srgbClr val="F85606"/>
                </a:solidFill>
                <a:latin typeface="Calibri" pitchFamily="34" charset="0"/>
                <a:ea typeface="Calibri" pitchFamily="34" charset="-122"/>
                <a:cs typeface="Calibri" pitchFamily="34" charset="-120"/>
              </a:rPr>
              <a:t>Cost-Benefit &amp; Break-Even</a:t>
            </a:r>
            <a:endParaRPr lang="en-US" sz="1250" dirty="0"/>
          </a:p>
        </p:txBody>
      </p:sp>
      <p:sp>
        <p:nvSpPr>
          <p:cNvPr id="22" name="Text 20"/>
          <p:cNvSpPr/>
          <p:nvPr/>
        </p:nvSpPr>
        <p:spPr>
          <a:xfrm>
            <a:off x="6309360" y="4114800"/>
            <a:ext cx="27432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 11,429</a:t>
            </a:r>
            <a:endParaRPr lang="en-US" sz="3000" dirty="0"/>
          </a:p>
        </p:txBody>
      </p:sp>
      <p:sp>
        <p:nvSpPr>
          <p:cNvPr id="23" name="Text 21"/>
          <p:cNvSpPr/>
          <p:nvPr/>
        </p:nvSpPr>
        <p:spPr>
          <a:xfrm>
            <a:off x="6309360" y="4709160"/>
            <a:ext cx="5029200" cy="685800"/>
          </a:xfrm>
          <a:prstGeom prst="rect">
            <a:avLst/>
          </a:prstGeom>
          <a:noFill/>
          <a:ln/>
        </p:spPr>
        <p:txBody>
          <a:bodyPr wrap="square" lIns="0" tIns="0" rIns="0" bIns="0" rtlCol="0" anchor="ctr"/>
          <a:lstStyle/>
          <a:p>
            <a:pPr indent="0" marL="0">
              <a:lnSpc>
                <a:spcPct val="120000"/>
              </a:lnSpc>
              <a:buNone/>
            </a:pPr>
            <a:r>
              <a:rPr lang="en-US" sz="1100" dirty="0">
                <a:solidFill>
                  <a:srgbClr val="AAB4C8"/>
                </a:solidFill>
                <a:latin typeface="Calibri" pitchFamily="34" charset="0"/>
                <a:ea typeface="Calibri" pitchFamily="34" charset="-122"/>
                <a:cs typeface="Calibri" pitchFamily="34" charset="-120"/>
              </a:rPr>
              <a:t>order interactions to break even on the $40,000 investment — realistic within a short time for a platform this size.</a:t>
            </a:r>
            <a:endParaRPr lang="en-US" sz="1100" dirty="0"/>
          </a:p>
        </p:txBody>
      </p:sp>
      <p:sp>
        <p:nvSpPr>
          <p:cNvPr id="24" name="Text 22"/>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25" name="Text 23"/>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4 · DESIGN</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Two Candidate Systems — We Picked the Stronger One</a:t>
            </a:r>
            <a:endParaRPr lang="en-US" sz="3200" dirty="0"/>
          </a:p>
        </p:txBody>
      </p:sp>
      <p:sp>
        <p:nvSpPr>
          <p:cNvPr id="4" name="Shape 2"/>
          <p:cNvSpPr/>
          <p:nvPr/>
        </p:nvSpPr>
        <p:spPr>
          <a:xfrm>
            <a:off x="548640" y="1737360"/>
            <a:ext cx="5349240" cy="3794760"/>
          </a:xfrm>
          <a:prstGeom prst="roundRect">
            <a:avLst>
              <a:gd name="adj" fmla="val 1928"/>
            </a:avLst>
          </a:prstGeom>
          <a:solidFill>
            <a:srgbClr val="17233F"/>
          </a:solidFill>
          <a:ln/>
        </p:spPr>
      </p:sp>
      <p:sp>
        <p:nvSpPr>
          <p:cNvPr id="5" name="Text 3"/>
          <p:cNvSpPr/>
          <p:nvPr/>
        </p:nvSpPr>
        <p:spPr>
          <a:xfrm>
            <a:off x="868680" y="1920240"/>
            <a:ext cx="4754880" cy="274320"/>
          </a:xfrm>
          <a:prstGeom prst="rect">
            <a:avLst/>
          </a:prstGeom>
          <a:noFill/>
          <a:ln/>
        </p:spPr>
        <p:txBody>
          <a:bodyPr wrap="square" lIns="0" tIns="0" rIns="0" bIns="0" rtlCol="0" anchor="ctr"/>
          <a:lstStyle/>
          <a:p>
            <a:pPr indent="0" marL="0">
              <a:buNone/>
            </a:pPr>
            <a:r>
              <a:rPr lang="en-US" sz="1100" b="1" spc="100" kern="0" dirty="0">
                <a:solidFill>
                  <a:srgbClr val="F85606"/>
                </a:solidFill>
                <a:latin typeface="Calibri" pitchFamily="34" charset="0"/>
                <a:ea typeface="Calibri" pitchFamily="34" charset="-122"/>
                <a:cs typeface="Calibri" pitchFamily="34" charset="-120"/>
              </a:rPr>
              <a:t>CANDIDATE 1 · SELECTED</a:t>
            </a:r>
            <a:endParaRPr lang="en-US" sz="1100" dirty="0"/>
          </a:p>
        </p:txBody>
      </p:sp>
      <p:sp>
        <p:nvSpPr>
          <p:cNvPr id="6" name="Text 4"/>
          <p:cNvSpPr/>
          <p:nvPr/>
        </p:nvSpPr>
        <p:spPr>
          <a:xfrm>
            <a:off x="868680" y="2194560"/>
            <a:ext cx="4754880" cy="6858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Comprehensive Automated Trust &amp; Security System</a:t>
            </a:r>
            <a:endParaRPr lang="en-US" sz="1600" dirty="0"/>
          </a:p>
        </p:txBody>
      </p:sp>
      <p:sp>
        <p:nvSpPr>
          <p:cNvPr id="7" name="Text 5"/>
          <p:cNvSpPr/>
          <p:nvPr/>
        </p:nvSpPr>
        <p:spPr>
          <a:xfrm>
            <a:off x="868680" y="3017520"/>
            <a:ext cx="4754880" cy="411480"/>
          </a:xfrm>
          <a:prstGeom prst="rect">
            <a:avLst/>
          </a:prstGeom>
          <a:noFill/>
          <a:ln/>
        </p:spPr>
        <p:txBody>
          <a:bodyPr wrap="square" lIns="0" tIns="0" rIns="0" bIns="0" rtlCol="0" anchor="ctr"/>
          <a:lstStyle/>
          <a:p>
            <a:pPr indent="0" marL="0">
              <a:buNone/>
            </a:pPr>
            <a:r>
              <a:rPr lang="en-US" sz="1250" dirty="0">
                <a:solidFill>
                  <a:srgbClr val="AAB4C8"/>
                </a:solidFill>
                <a:latin typeface="Calibri" pitchFamily="34" charset="0"/>
                <a:ea typeface="Calibri" pitchFamily="34" charset="-122"/>
                <a:cs typeface="Calibri" pitchFamily="34" charset="-120"/>
              </a:rPr>
              <a:t>•  Full seller ID &amp; document verification</a:t>
            </a:r>
            <a:endParaRPr lang="en-US" sz="1250" dirty="0"/>
          </a:p>
        </p:txBody>
      </p:sp>
      <p:sp>
        <p:nvSpPr>
          <p:cNvPr id="8" name="Text 6"/>
          <p:cNvSpPr/>
          <p:nvPr/>
        </p:nvSpPr>
        <p:spPr>
          <a:xfrm>
            <a:off x="868680" y="3474720"/>
            <a:ext cx="4754880" cy="411480"/>
          </a:xfrm>
          <a:prstGeom prst="rect">
            <a:avLst/>
          </a:prstGeom>
          <a:noFill/>
          <a:ln/>
        </p:spPr>
        <p:txBody>
          <a:bodyPr wrap="square" lIns="0" tIns="0" rIns="0" bIns="0" rtlCol="0" anchor="ctr"/>
          <a:lstStyle/>
          <a:p>
            <a:pPr indent="0" marL="0">
              <a:buNone/>
            </a:pPr>
            <a:r>
              <a:rPr lang="en-US" sz="1250" dirty="0">
                <a:solidFill>
                  <a:srgbClr val="AAB4C8"/>
                </a:solidFill>
                <a:latin typeface="Calibri" pitchFamily="34" charset="0"/>
                <a:ea typeface="Calibri" pitchFamily="34" charset="-122"/>
                <a:cs typeface="Calibri" pitchFamily="34" charset="-120"/>
              </a:rPr>
              <a:t>•  Live Trust Score for every seller</a:t>
            </a:r>
            <a:endParaRPr lang="en-US" sz="1250" dirty="0"/>
          </a:p>
        </p:txBody>
      </p:sp>
      <p:sp>
        <p:nvSpPr>
          <p:cNvPr id="9" name="Text 7"/>
          <p:cNvSpPr/>
          <p:nvPr/>
        </p:nvSpPr>
        <p:spPr>
          <a:xfrm>
            <a:off x="868680" y="3931920"/>
            <a:ext cx="4754880" cy="411480"/>
          </a:xfrm>
          <a:prstGeom prst="rect">
            <a:avLst/>
          </a:prstGeom>
          <a:noFill/>
          <a:ln/>
        </p:spPr>
        <p:txBody>
          <a:bodyPr wrap="square" lIns="0" tIns="0" rIns="0" bIns="0" rtlCol="0" anchor="ctr"/>
          <a:lstStyle/>
          <a:p>
            <a:pPr indent="0" marL="0">
              <a:buNone/>
            </a:pPr>
            <a:r>
              <a:rPr lang="en-US" sz="1250" dirty="0">
                <a:solidFill>
                  <a:srgbClr val="AAB4C8"/>
                </a:solidFill>
                <a:latin typeface="Calibri" pitchFamily="34" charset="0"/>
                <a:ea typeface="Calibri" pitchFamily="34" charset="-122"/>
                <a:cs typeface="Calibri" pitchFamily="34" charset="-120"/>
              </a:rPr>
              <a:t>•  Fraud risk-scoring engine + OTP</a:t>
            </a:r>
            <a:endParaRPr lang="en-US" sz="1250" dirty="0"/>
          </a:p>
        </p:txBody>
      </p:sp>
      <p:sp>
        <p:nvSpPr>
          <p:cNvPr id="10" name="Text 8"/>
          <p:cNvSpPr/>
          <p:nvPr/>
        </p:nvSpPr>
        <p:spPr>
          <a:xfrm>
            <a:off x="868680" y="4389120"/>
            <a:ext cx="4754880" cy="411480"/>
          </a:xfrm>
          <a:prstGeom prst="rect">
            <a:avLst/>
          </a:prstGeom>
          <a:noFill/>
          <a:ln/>
        </p:spPr>
        <p:txBody>
          <a:bodyPr wrap="square" lIns="0" tIns="0" rIns="0" bIns="0" rtlCol="0" anchor="ctr"/>
          <a:lstStyle/>
          <a:p>
            <a:pPr indent="0" marL="0">
              <a:buNone/>
            </a:pPr>
            <a:r>
              <a:rPr lang="en-US" sz="1250" dirty="0">
                <a:solidFill>
                  <a:srgbClr val="AAB4C8"/>
                </a:solidFill>
                <a:latin typeface="Calibri" pitchFamily="34" charset="0"/>
                <a:ea typeface="Calibri" pitchFamily="34" charset="-122"/>
                <a:cs typeface="Calibri" pitchFamily="34" charset="-120"/>
              </a:rPr>
              <a:t>•  Guaranteed support escalation deadline</a:t>
            </a:r>
            <a:endParaRPr lang="en-US" sz="1250" dirty="0"/>
          </a:p>
        </p:txBody>
      </p:sp>
      <p:sp>
        <p:nvSpPr>
          <p:cNvPr id="11" name="Shape 9"/>
          <p:cNvSpPr/>
          <p:nvPr/>
        </p:nvSpPr>
        <p:spPr>
          <a:xfrm>
            <a:off x="6263640" y="1737360"/>
            <a:ext cx="5349240" cy="3794760"/>
          </a:xfrm>
          <a:prstGeom prst="roundRect">
            <a:avLst>
              <a:gd name="adj" fmla="val 1928"/>
            </a:avLst>
          </a:prstGeom>
          <a:solidFill>
            <a:srgbClr val="F7F7F8"/>
          </a:solidFill>
          <a:ln w="12700">
            <a:solidFill>
              <a:srgbClr val="E4E6EC"/>
            </a:solidFill>
            <a:prstDash val="solid"/>
          </a:ln>
        </p:spPr>
      </p:sp>
      <p:sp>
        <p:nvSpPr>
          <p:cNvPr id="12" name="Text 10"/>
          <p:cNvSpPr/>
          <p:nvPr/>
        </p:nvSpPr>
        <p:spPr>
          <a:xfrm>
            <a:off x="6583680" y="1920240"/>
            <a:ext cx="4754880" cy="274320"/>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CANDIDATE 2</a:t>
            </a:r>
            <a:endParaRPr lang="en-US" sz="1100" dirty="0"/>
          </a:p>
        </p:txBody>
      </p:sp>
      <p:sp>
        <p:nvSpPr>
          <p:cNvPr id="13" name="Text 11"/>
          <p:cNvSpPr/>
          <p:nvPr/>
        </p:nvSpPr>
        <p:spPr>
          <a:xfrm>
            <a:off x="6583680" y="2194560"/>
            <a:ext cx="4754880" cy="685800"/>
          </a:xfrm>
          <a:prstGeom prst="rect">
            <a:avLst/>
          </a:prstGeom>
          <a:noFill/>
          <a:ln/>
        </p:spPr>
        <p:txBody>
          <a:bodyPr wrap="square" lIns="0" tIns="0" rIns="0" bIns="0" rtlCol="0" anchor="ctr"/>
          <a:lstStyle/>
          <a:p>
            <a:pPr indent="0" marL="0">
              <a:buNone/>
            </a:pPr>
            <a:r>
              <a:rPr lang="en-US" sz="1600" b="1" dirty="0">
                <a:solidFill>
                  <a:srgbClr val="17233F"/>
                </a:solidFill>
                <a:latin typeface="Cambria" pitchFamily="34" charset="0"/>
                <a:ea typeface="Cambria" pitchFamily="34" charset="-122"/>
                <a:cs typeface="Cambria" pitchFamily="34" charset="-120"/>
              </a:rPr>
              <a:t>Incremental, Lower-Cost System</a:t>
            </a:r>
            <a:endParaRPr lang="en-US" sz="1600" dirty="0"/>
          </a:p>
        </p:txBody>
      </p:sp>
      <p:sp>
        <p:nvSpPr>
          <p:cNvPr id="14" name="Text 12"/>
          <p:cNvSpPr/>
          <p:nvPr/>
        </p:nvSpPr>
        <p:spPr>
          <a:xfrm>
            <a:off x="6583680" y="3017520"/>
            <a:ext cx="4754880" cy="41148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  Simple trust tiers, no new documents</a:t>
            </a:r>
            <a:endParaRPr lang="en-US" sz="1250" dirty="0"/>
          </a:p>
        </p:txBody>
      </p:sp>
      <p:sp>
        <p:nvSpPr>
          <p:cNvPr id="15" name="Text 13"/>
          <p:cNvSpPr/>
          <p:nvPr/>
        </p:nvSpPr>
        <p:spPr>
          <a:xfrm>
            <a:off x="6583680" y="3474720"/>
            <a:ext cx="4754880" cy="41148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  Rule-based OTP checks only</a:t>
            </a:r>
            <a:endParaRPr lang="en-US" sz="1250" dirty="0"/>
          </a:p>
        </p:txBody>
      </p:sp>
      <p:sp>
        <p:nvSpPr>
          <p:cNvPr id="16" name="Text 14"/>
          <p:cNvSpPr/>
          <p:nvPr/>
        </p:nvSpPr>
        <p:spPr>
          <a:xfrm>
            <a:off x="6583680" y="3931920"/>
            <a:ext cx="4754880" cy="41148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  Delivery OTP without photo proof</a:t>
            </a:r>
            <a:endParaRPr lang="en-US" sz="1250" dirty="0"/>
          </a:p>
        </p:txBody>
      </p:sp>
      <p:sp>
        <p:nvSpPr>
          <p:cNvPr id="17" name="Text 15"/>
          <p:cNvSpPr/>
          <p:nvPr/>
        </p:nvSpPr>
        <p:spPr>
          <a:xfrm>
            <a:off x="6583680" y="4389120"/>
            <a:ext cx="4754880" cy="41148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  Escalation without a strict deadline</a:t>
            </a:r>
            <a:endParaRPr lang="en-US" sz="1250" dirty="0"/>
          </a:p>
        </p:txBody>
      </p:sp>
      <p:sp>
        <p:nvSpPr>
          <p:cNvPr id="18" name="Text 16"/>
          <p:cNvSpPr/>
          <p:nvPr/>
        </p:nvSpPr>
        <p:spPr>
          <a:xfrm>
            <a:off x="548640" y="5715000"/>
            <a:ext cx="11064240" cy="45720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A weighted scoring matrix gave Candidate 1 the higher score — it protects customers exactly where our analysis showed the biggest risks.</a:t>
            </a:r>
            <a:endParaRPr lang="en-US" sz="1200" dirty="0"/>
          </a:p>
        </p:txBody>
      </p:sp>
      <p:sp>
        <p:nvSpPr>
          <p:cNvPr id="19" name="Text 17"/>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20" name="Text 18"/>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CHAPTER 4 · DESIGN</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Inside the Proposed System</a:t>
            </a:r>
            <a:endParaRPr lang="en-US" sz="3200" dirty="0"/>
          </a:p>
        </p:txBody>
      </p:sp>
      <p:sp>
        <p:nvSpPr>
          <p:cNvPr id="4" name="Shape 2"/>
          <p:cNvSpPr/>
          <p:nvPr/>
        </p:nvSpPr>
        <p:spPr>
          <a:xfrm>
            <a:off x="548640" y="1737360"/>
            <a:ext cx="3566160" cy="4160520"/>
          </a:xfrm>
          <a:prstGeom prst="roundRect">
            <a:avLst>
              <a:gd name="adj" fmla="val 1795"/>
            </a:avLst>
          </a:prstGeom>
          <a:solidFill>
            <a:srgbClr val="F7F7F8"/>
          </a:solidFill>
          <a:ln/>
        </p:spPr>
      </p:sp>
      <p:sp>
        <p:nvSpPr>
          <p:cNvPr id="5" name="Shape 3"/>
          <p:cNvSpPr/>
          <p:nvPr/>
        </p:nvSpPr>
        <p:spPr>
          <a:xfrm>
            <a:off x="548640" y="1737360"/>
            <a:ext cx="3566160" cy="502920"/>
          </a:xfrm>
          <a:prstGeom prst="rect">
            <a:avLst/>
          </a:prstGeom>
          <a:solidFill>
            <a:srgbClr val="F85606"/>
          </a:solidFill>
          <a:ln/>
        </p:spPr>
      </p:sp>
      <p:sp>
        <p:nvSpPr>
          <p:cNvPr id="6" name="Text 4"/>
          <p:cNvSpPr/>
          <p:nvPr/>
        </p:nvSpPr>
        <p:spPr>
          <a:xfrm>
            <a:off x="731520" y="1737360"/>
            <a:ext cx="3200400" cy="5029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New DFD Processes</a:t>
            </a:r>
            <a:endParaRPr lang="en-US" sz="1400" dirty="0"/>
          </a:p>
        </p:txBody>
      </p:sp>
      <p:sp>
        <p:nvSpPr>
          <p:cNvPr id="7" name="Text 5"/>
          <p:cNvSpPr/>
          <p:nvPr/>
        </p:nvSpPr>
        <p:spPr>
          <a:xfrm>
            <a:off x="731520" y="2423160"/>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Seller Verification &amp; Trust Score</a:t>
            </a:r>
            <a:endParaRPr lang="en-US" sz="1130" dirty="0"/>
          </a:p>
        </p:txBody>
      </p:sp>
      <p:sp>
        <p:nvSpPr>
          <p:cNvPr id="8" name="Text 6"/>
          <p:cNvSpPr/>
          <p:nvPr/>
        </p:nvSpPr>
        <p:spPr>
          <a:xfrm>
            <a:off x="731520" y="2990088"/>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Fraud Detection + OTP at checkout</a:t>
            </a:r>
            <a:endParaRPr lang="en-US" sz="1130" dirty="0"/>
          </a:p>
        </p:txBody>
      </p:sp>
      <p:sp>
        <p:nvSpPr>
          <p:cNvPr id="9" name="Text 7"/>
          <p:cNvSpPr/>
          <p:nvPr/>
        </p:nvSpPr>
        <p:spPr>
          <a:xfrm>
            <a:off x="731520" y="3557016"/>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Delivery Proof Capture (code/photo)</a:t>
            </a:r>
            <a:endParaRPr lang="en-US" sz="1130" dirty="0"/>
          </a:p>
        </p:txBody>
      </p:sp>
      <p:sp>
        <p:nvSpPr>
          <p:cNvPr id="10" name="Text 8"/>
          <p:cNvSpPr/>
          <p:nvPr/>
        </p:nvSpPr>
        <p:spPr>
          <a:xfrm>
            <a:off x="731520" y="4123944"/>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Digital Return Receipt</a:t>
            </a:r>
            <a:endParaRPr lang="en-US" sz="1130" dirty="0"/>
          </a:p>
        </p:txBody>
      </p:sp>
      <p:sp>
        <p:nvSpPr>
          <p:cNvPr id="11" name="Text 9"/>
          <p:cNvSpPr/>
          <p:nvPr/>
        </p:nvSpPr>
        <p:spPr>
          <a:xfrm>
            <a:off x="731520" y="4690872"/>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Support Ticket Escalation (SLA)</a:t>
            </a:r>
            <a:endParaRPr lang="en-US" sz="1130" dirty="0"/>
          </a:p>
        </p:txBody>
      </p:sp>
      <p:sp>
        <p:nvSpPr>
          <p:cNvPr id="12" name="Shape 10"/>
          <p:cNvSpPr/>
          <p:nvPr/>
        </p:nvSpPr>
        <p:spPr>
          <a:xfrm>
            <a:off x="4297680" y="1737360"/>
            <a:ext cx="3566160" cy="4160520"/>
          </a:xfrm>
          <a:prstGeom prst="roundRect">
            <a:avLst>
              <a:gd name="adj" fmla="val 1795"/>
            </a:avLst>
          </a:prstGeom>
          <a:solidFill>
            <a:srgbClr val="F7F7F8"/>
          </a:solidFill>
          <a:ln/>
        </p:spPr>
      </p:sp>
      <p:sp>
        <p:nvSpPr>
          <p:cNvPr id="13" name="Shape 11"/>
          <p:cNvSpPr/>
          <p:nvPr/>
        </p:nvSpPr>
        <p:spPr>
          <a:xfrm>
            <a:off x="4297680" y="1737360"/>
            <a:ext cx="3566160" cy="502920"/>
          </a:xfrm>
          <a:prstGeom prst="rect">
            <a:avLst/>
          </a:prstGeom>
          <a:solidFill>
            <a:srgbClr val="F85606"/>
          </a:solidFill>
          <a:ln/>
        </p:spPr>
      </p:sp>
      <p:sp>
        <p:nvSpPr>
          <p:cNvPr id="14" name="Text 12"/>
          <p:cNvSpPr/>
          <p:nvPr/>
        </p:nvSpPr>
        <p:spPr>
          <a:xfrm>
            <a:off x="4480560" y="1737360"/>
            <a:ext cx="3200400" cy="5029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Database Design</a:t>
            </a:r>
            <a:endParaRPr lang="en-US" sz="1400" dirty="0"/>
          </a:p>
        </p:txBody>
      </p:sp>
      <p:sp>
        <p:nvSpPr>
          <p:cNvPr id="15" name="Text 13"/>
          <p:cNvSpPr/>
          <p:nvPr/>
        </p:nvSpPr>
        <p:spPr>
          <a:xfrm>
            <a:off x="4480560" y="2423160"/>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Customer, Seller, Product</a:t>
            </a:r>
            <a:endParaRPr lang="en-US" sz="1130" dirty="0"/>
          </a:p>
        </p:txBody>
      </p:sp>
      <p:sp>
        <p:nvSpPr>
          <p:cNvPr id="16" name="Text 14"/>
          <p:cNvSpPr/>
          <p:nvPr/>
        </p:nvSpPr>
        <p:spPr>
          <a:xfrm>
            <a:off x="4480560" y="2990088"/>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Order, OrderItem, Payment</a:t>
            </a:r>
            <a:endParaRPr lang="en-US" sz="1130" dirty="0"/>
          </a:p>
        </p:txBody>
      </p:sp>
      <p:sp>
        <p:nvSpPr>
          <p:cNvPr id="17" name="Text 15"/>
          <p:cNvSpPr/>
          <p:nvPr/>
        </p:nvSpPr>
        <p:spPr>
          <a:xfrm>
            <a:off x="4480560" y="3557016"/>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Delivery (proof fields)</a:t>
            </a:r>
            <a:endParaRPr lang="en-US" sz="1130" dirty="0"/>
          </a:p>
        </p:txBody>
      </p:sp>
      <p:sp>
        <p:nvSpPr>
          <p:cNvPr id="18" name="Text 16"/>
          <p:cNvSpPr/>
          <p:nvPr/>
        </p:nvSpPr>
        <p:spPr>
          <a:xfrm>
            <a:off x="4480560" y="4123944"/>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ReturnRefund (receipt field)</a:t>
            </a:r>
            <a:endParaRPr lang="en-US" sz="1130" dirty="0"/>
          </a:p>
        </p:txBody>
      </p:sp>
      <p:sp>
        <p:nvSpPr>
          <p:cNvPr id="19" name="Text 17"/>
          <p:cNvSpPr/>
          <p:nvPr/>
        </p:nvSpPr>
        <p:spPr>
          <a:xfrm>
            <a:off x="4480560" y="4690872"/>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SupportTicket (SLA field)</a:t>
            </a:r>
            <a:endParaRPr lang="en-US" sz="1130" dirty="0"/>
          </a:p>
        </p:txBody>
      </p:sp>
      <p:sp>
        <p:nvSpPr>
          <p:cNvPr id="20" name="Shape 18"/>
          <p:cNvSpPr/>
          <p:nvPr/>
        </p:nvSpPr>
        <p:spPr>
          <a:xfrm>
            <a:off x="8046720" y="1737360"/>
            <a:ext cx="3566160" cy="4160520"/>
          </a:xfrm>
          <a:prstGeom prst="roundRect">
            <a:avLst>
              <a:gd name="adj" fmla="val 1795"/>
            </a:avLst>
          </a:prstGeom>
          <a:solidFill>
            <a:srgbClr val="F7F7F8"/>
          </a:solidFill>
          <a:ln/>
        </p:spPr>
      </p:sp>
      <p:sp>
        <p:nvSpPr>
          <p:cNvPr id="21" name="Shape 19"/>
          <p:cNvSpPr/>
          <p:nvPr/>
        </p:nvSpPr>
        <p:spPr>
          <a:xfrm>
            <a:off x="8046720" y="1737360"/>
            <a:ext cx="3566160" cy="502920"/>
          </a:xfrm>
          <a:prstGeom prst="rect">
            <a:avLst/>
          </a:prstGeom>
          <a:solidFill>
            <a:srgbClr val="F85606"/>
          </a:solidFill>
          <a:ln/>
        </p:spPr>
      </p:sp>
      <p:sp>
        <p:nvSpPr>
          <p:cNvPr id="22" name="Text 20"/>
          <p:cNvSpPr/>
          <p:nvPr/>
        </p:nvSpPr>
        <p:spPr>
          <a:xfrm>
            <a:off x="8229600" y="1737360"/>
            <a:ext cx="3200400" cy="5029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New Forms</a:t>
            </a:r>
            <a:endParaRPr lang="en-US" sz="1400" dirty="0"/>
          </a:p>
        </p:txBody>
      </p:sp>
      <p:sp>
        <p:nvSpPr>
          <p:cNvPr id="23" name="Text 21"/>
          <p:cNvSpPr/>
          <p:nvPr/>
        </p:nvSpPr>
        <p:spPr>
          <a:xfrm>
            <a:off x="8229600" y="2423160"/>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Seller Verification form</a:t>
            </a:r>
            <a:endParaRPr lang="en-US" sz="1130" dirty="0"/>
          </a:p>
        </p:txBody>
      </p:sp>
      <p:sp>
        <p:nvSpPr>
          <p:cNvPr id="24" name="Text 22"/>
          <p:cNvSpPr/>
          <p:nvPr/>
        </p:nvSpPr>
        <p:spPr>
          <a:xfrm>
            <a:off x="8229600" y="2990088"/>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OTP / Account Security form</a:t>
            </a:r>
            <a:endParaRPr lang="en-US" sz="1130" dirty="0"/>
          </a:p>
        </p:txBody>
      </p:sp>
      <p:sp>
        <p:nvSpPr>
          <p:cNvPr id="25" name="Text 23"/>
          <p:cNvSpPr/>
          <p:nvPr/>
        </p:nvSpPr>
        <p:spPr>
          <a:xfrm>
            <a:off x="8229600" y="3557016"/>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Return &amp; Refund Request form</a:t>
            </a:r>
            <a:endParaRPr lang="en-US" sz="1130" dirty="0"/>
          </a:p>
        </p:txBody>
      </p:sp>
      <p:sp>
        <p:nvSpPr>
          <p:cNvPr id="26" name="Text 24"/>
          <p:cNvSpPr/>
          <p:nvPr/>
        </p:nvSpPr>
        <p:spPr>
          <a:xfrm>
            <a:off x="8229600" y="4123944"/>
            <a:ext cx="3200400" cy="530352"/>
          </a:xfrm>
          <a:prstGeom prst="rect">
            <a:avLst/>
          </a:prstGeom>
          <a:noFill/>
          <a:ln/>
        </p:spPr>
        <p:txBody>
          <a:bodyPr wrap="square" lIns="0" tIns="0" rIns="0" bIns="0" rtlCol="0" anchor="ctr"/>
          <a:lstStyle/>
          <a:p>
            <a:pPr indent="0" marL="0">
              <a:lnSpc>
                <a:spcPct val="110000"/>
              </a:lnSpc>
              <a:buNone/>
            </a:pPr>
            <a:r>
              <a:rPr lang="en-US" sz="1130" dirty="0">
                <a:solidFill>
                  <a:srgbClr val="17233F"/>
                </a:solidFill>
                <a:latin typeface="Calibri" pitchFamily="34" charset="0"/>
                <a:ea typeface="Calibri" pitchFamily="34" charset="-122"/>
                <a:cs typeface="Calibri" pitchFamily="34" charset="-120"/>
              </a:rPr>
              <a:t>•  Rider App: Delivery Proof form</a:t>
            </a:r>
            <a:endParaRPr lang="en-US" sz="1130" dirty="0"/>
          </a:p>
        </p:txBody>
      </p:sp>
      <p:sp>
        <p:nvSpPr>
          <p:cNvPr id="27" name="Text 25"/>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28" name="Text 26"/>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33F"/>
        </a:solidFill>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212F52"/>
          </a:solidFill>
          <a:ln/>
        </p:spPr>
      </p:sp>
      <p:sp>
        <p:nvSpPr>
          <p:cNvPr id="3" name="Text 1"/>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SEE IT LIVE</a:t>
            </a:r>
            <a:endParaRPr lang="en-US" sz="1300" dirty="0"/>
          </a:p>
        </p:txBody>
      </p:sp>
      <p:sp>
        <p:nvSpPr>
          <p:cNvPr id="4" name="Text 2"/>
          <p:cNvSpPr/>
          <p:nvPr/>
        </p:nvSpPr>
        <p:spPr>
          <a:xfrm>
            <a:off x="548640" y="192024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Full Report, Presented Online</a:t>
            </a:r>
            <a:endParaRPr lang="en-US" sz="3400" dirty="0"/>
          </a:p>
        </p:txBody>
      </p:sp>
      <p:sp>
        <p:nvSpPr>
          <p:cNvPr id="5" name="Text 3"/>
          <p:cNvSpPr/>
          <p:nvPr/>
        </p:nvSpPr>
        <p:spPr>
          <a:xfrm>
            <a:off x="548640" y="2788920"/>
            <a:ext cx="9601200" cy="548640"/>
          </a:xfrm>
          <a:prstGeom prst="rect">
            <a:avLst/>
          </a:prstGeom>
          <a:noFill/>
          <a:ln/>
        </p:spPr>
        <p:txBody>
          <a:bodyPr wrap="square" lIns="0" tIns="0" rIns="0" bIns="0" rtlCol="0" anchor="ctr"/>
          <a:lstStyle/>
          <a:p>
            <a:pPr indent="0" marL="0">
              <a:buNone/>
            </a:pPr>
            <a:r>
              <a:rPr lang="en-US" sz="1500" dirty="0">
                <a:solidFill>
                  <a:srgbClr val="AAB4C8"/>
                </a:solidFill>
                <a:latin typeface="Calibri" pitchFamily="34" charset="0"/>
                <a:ea typeface="Calibri" pitchFamily="34" charset="-122"/>
                <a:cs typeface="Calibri" pitchFamily="34" charset="-120"/>
              </a:rPr>
              <a:t>Every chapter, chart, diagram, and form from this project is laid out on our project website:</a:t>
            </a:r>
            <a:endParaRPr lang="en-US" sz="1500" dirty="0"/>
          </a:p>
        </p:txBody>
      </p:sp>
      <p:sp>
        <p:nvSpPr>
          <p:cNvPr id="6" name="Shape 4"/>
          <p:cNvSpPr/>
          <p:nvPr/>
        </p:nvSpPr>
        <p:spPr>
          <a:xfrm>
            <a:off x="548640" y="3520440"/>
            <a:ext cx="7680960" cy="868680"/>
          </a:xfrm>
          <a:prstGeom prst="roundRect">
            <a:avLst>
              <a:gd name="adj" fmla="val 10526"/>
            </a:avLst>
          </a:prstGeom>
          <a:solidFill>
            <a:srgbClr val="F85606"/>
          </a:solidFill>
          <a:ln/>
        </p:spPr>
      </p:sp>
      <p:sp>
        <p:nvSpPr>
          <p:cNvPr id="7" name="Text 5"/>
          <p:cNvSpPr/>
          <p:nvPr/>
        </p:nvSpPr>
        <p:spPr>
          <a:xfrm>
            <a:off x="548640" y="3520440"/>
            <a:ext cx="768096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daraz-sad.vercel.app</a:t>
            </a:r>
            <a:endParaRPr lang="en-US" sz="2400" dirty="0"/>
          </a:p>
        </p:txBody>
      </p:sp>
      <p:sp>
        <p:nvSpPr>
          <p:cNvPr id="8" name="Text 6"/>
          <p:cNvSpPr/>
          <p:nvPr/>
        </p:nvSpPr>
        <p:spPr>
          <a:xfrm>
            <a:off x="548640" y="4663440"/>
            <a:ext cx="9601200" cy="548640"/>
          </a:xfrm>
          <a:prstGeom prst="rect">
            <a:avLst/>
          </a:prstGeom>
          <a:noFill/>
          <a:ln/>
        </p:spPr>
        <p:txBody>
          <a:bodyPr wrap="square" lIns="0" tIns="0" rIns="0" bIns="0" rtlCol="0" anchor="ctr"/>
          <a:lstStyle/>
          <a:p>
            <a:pPr indent="0" marL="0">
              <a:buNone/>
            </a:pPr>
            <a:r>
              <a:rPr lang="en-US" sz="1250" i="1" dirty="0">
                <a:solidFill>
                  <a:srgbClr val="AAB4C8"/>
                </a:solidFill>
                <a:latin typeface="Calibri" pitchFamily="34" charset="0"/>
                <a:ea typeface="Calibri" pitchFamily="34" charset="-122"/>
                <a:cs typeface="Calibri" pitchFamily="34" charset="-120"/>
              </a:rPr>
              <a:t>Feel free to explore it after the presentation for the complete charts, DFDs, ER diagram, and wireframes.</a:t>
            </a:r>
            <a:endParaRPr lang="en-US" sz="1250" dirty="0"/>
          </a:p>
        </p:txBody>
      </p:sp>
      <p:sp>
        <p:nvSpPr>
          <p:cNvPr id="9" name="Text 7"/>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AAB4C8"/>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10" name="Text 8"/>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AAB4C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lIns="0" tIns="0" rIns="0" bIns="0" rtlCol="0" anchor="ctr"/>
          <a:lstStyle/>
          <a:p>
            <a:pPr indent="0" marL="0">
              <a:buNone/>
            </a:pPr>
            <a:r>
              <a:rPr lang="en-US" sz="1300" b="1" spc="100" kern="0" dirty="0">
                <a:solidFill>
                  <a:srgbClr val="F85606"/>
                </a:solidFill>
                <a:latin typeface="Calibri" pitchFamily="34" charset="0"/>
                <a:ea typeface="Calibri" pitchFamily="34" charset="-122"/>
                <a:cs typeface="Calibri" pitchFamily="34" charset="-120"/>
              </a:rPr>
              <a:t>WRAPPING UP</a:t>
            </a:r>
            <a:endParaRPr lang="en-US" sz="1300" dirty="0"/>
          </a:p>
        </p:txBody>
      </p:sp>
      <p:sp>
        <p:nvSpPr>
          <p:cNvPr id="3" name="Text 1"/>
          <p:cNvSpPr/>
          <p:nvPr/>
        </p:nvSpPr>
        <p:spPr>
          <a:xfrm>
            <a:off x="548640" y="749808"/>
            <a:ext cx="1106424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The Big Picture</a:t>
            </a:r>
            <a:endParaRPr lang="en-US" sz="3200" dirty="0"/>
          </a:p>
        </p:txBody>
      </p:sp>
      <p:sp>
        <p:nvSpPr>
          <p:cNvPr id="4" name="Shape 2"/>
          <p:cNvSpPr/>
          <p:nvPr/>
        </p:nvSpPr>
        <p:spPr>
          <a:xfrm>
            <a:off x="548640" y="1783080"/>
            <a:ext cx="11064240" cy="1371600"/>
          </a:xfrm>
          <a:prstGeom prst="roundRect">
            <a:avLst>
              <a:gd name="adj" fmla="val 4667"/>
            </a:avLst>
          </a:prstGeom>
          <a:solidFill>
            <a:srgbClr val="F1F2F5"/>
          </a:solidFill>
          <a:ln/>
        </p:spPr>
      </p:sp>
      <p:sp>
        <p:nvSpPr>
          <p:cNvPr id="5" name="Text 3"/>
          <p:cNvSpPr/>
          <p:nvPr/>
        </p:nvSpPr>
        <p:spPr>
          <a:xfrm>
            <a:off x="868680" y="1965960"/>
            <a:ext cx="10424160" cy="1051560"/>
          </a:xfrm>
          <a:prstGeom prst="rect">
            <a:avLst/>
          </a:prstGeom>
          <a:noFill/>
          <a:ln/>
        </p:spPr>
        <p:txBody>
          <a:bodyPr wrap="square" lIns="0" tIns="0" rIns="0" bIns="0" rtlCol="0" anchor="ctr"/>
          <a:lstStyle/>
          <a:p>
            <a:pPr indent="0" marL="0">
              <a:lnSpc>
                <a:spcPct val="130000"/>
              </a:lnSpc>
              <a:buNone/>
            </a:pPr>
            <a:r>
              <a:rPr lang="en-US" sz="1500" dirty="0">
                <a:solidFill>
                  <a:srgbClr val="17233F"/>
                </a:solidFill>
                <a:latin typeface="Calibri" pitchFamily="34" charset="0"/>
                <a:ea typeface="Calibri" pitchFamily="34" charset="-122"/>
                <a:cs typeface="Calibri" pitchFamily="34" charset="-120"/>
              </a:rPr>
              <a:t>Daraz's business model is sound. The gap is in “exception handling” — the tools that kick in once something goes wrong: a fake product, a hacked account, a disputed delivery, a stuck refund.</a:t>
            </a:r>
            <a:endParaRPr lang="en-US" sz="1500" dirty="0"/>
          </a:p>
        </p:txBody>
      </p:sp>
      <p:sp>
        <p:nvSpPr>
          <p:cNvPr id="6" name="Shape 4"/>
          <p:cNvSpPr/>
          <p:nvPr/>
        </p:nvSpPr>
        <p:spPr>
          <a:xfrm>
            <a:off x="1634490" y="3520440"/>
            <a:ext cx="457200" cy="457200"/>
          </a:xfrm>
          <a:prstGeom prst="ellipse">
            <a:avLst/>
          </a:prstGeom>
          <a:solidFill>
            <a:srgbClr val="F85606"/>
          </a:solidFill>
          <a:ln/>
        </p:spPr>
      </p:sp>
      <p:sp>
        <p:nvSpPr>
          <p:cNvPr id="7" name="Text 5"/>
          <p:cNvSpPr/>
          <p:nvPr/>
        </p:nvSpPr>
        <p:spPr>
          <a:xfrm>
            <a:off x="1634490" y="3520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548640" y="4114800"/>
            <a:ext cx="2628900" cy="365760"/>
          </a:xfrm>
          <a:prstGeom prst="rect">
            <a:avLst/>
          </a:prstGeom>
          <a:noFill/>
          <a:ln/>
        </p:spPr>
        <p:txBody>
          <a:bodyPr wrap="square" lIns="0" tIns="0" rIns="0" bIns="0" rtlCol="0" anchor="ctr"/>
          <a:lstStyle/>
          <a:p>
            <a:pPr algn="ctr" indent="0" marL="0">
              <a:buNone/>
            </a:pPr>
            <a:r>
              <a:rPr lang="en-US" sz="1400" b="1" dirty="0">
                <a:solidFill>
                  <a:srgbClr val="17233F"/>
                </a:solidFill>
                <a:latin typeface="Cambria" pitchFamily="34" charset="0"/>
                <a:ea typeface="Cambria" pitchFamily="34" charset="-122"/>
                <a:cs typeface="Cambria" pitchFamily="34" charset="-120"/>
              </a:rPr>
              <a:t>Stronger Trust</a:t>
            </a:r>
            <a:endParaRPr lang="en-US" sz="1400" dirty="0"/>
          </a:p>
        </p:txBody>
      </p:sp>
      <p:sp>
        <p:nvSpPr>
          <p:cNvPr id="9" name="Text 7"/>
          <p:cNvSpPr/>
          <p:nvPr/>
        </p:nvSpPr>
        <p:spPr>
          <a:xfrm>
            <a:off x="640080" y="4480560"/>
            <a:ext cx="24460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6B7280"/>
                </a:solidFill>
                <a:latin typeface="Calibri" pitchFamily="34" charset="0"/>
                <a:ea typeface="Calibri" pitchFamily="34" charset="-122"/>
                <a:cs typeface="Calibri" pitchFamily="34" charset="-120"/>
              </a:rPr>
              <a:t>Verified sellers &amp; visible trust scores</a:t>
            </a:r>
            <a:endParaRPr lang="en-US" sz="1050" dirty="0"/>
          </a:p>
        </p:txBody>
      </p:sp>
      <p:sp>
        <p:nvSpPr>
          <p:cNvPr id="10" name="Shape 8"/>
          <p:cNvSpPr/>
          <p:nvPr/>
        </p:nvSpPr>
        <p:spPr>
          <a:xfrm>
            <a:off x="4446270" y="3520440"/>
            <a:ext cx="457200" cy="457200"/>
          </a:xfrm>
          <a:prstGeom prst="ellipse">
            <a:avLst/>
          </a:prstGeom>
          <a:solidFill>
            <a:srgbClr val="F85606"/>
          </a:solidFill>
          <a:ln/>
        </p:spPr>
      </p:sp>
      <p:sp>
        <p:nvSpPr>
          <p:cNvPr id="11" name="Text 9"/>
          <p:cNvSpPr/>
          <p:nvPr/>
        </p:nvSpPr>
        <p:spPr>
          <a:xfrm>
            <a:off x="4446270" y="3520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360420" y="4114800"/>
            <a:ext cx="2628900" cy="365760"/>
          </a:xfrm>
          <a:prstGeom prst="rect">
            <a:avLst/>
          </a:prstGeom>
          <a:noFill/>
          <a:ln/>
        </p:spPr>
        <p:txBody>
          <a:bodyPr wrap="square" lIns="0" tIns="0" rIns="0" bIns="0" rtlCol="0" anchor="ctr"/>
          <a:lstStyle/>
          <a:p>
            <a:pPr algn="ctr" indent="0" marL="0">
              <a:buNone/>
            </a:pPr>
            <a:r>
              <a:rPr lang="en-US" sz="1400" b="1" dirty="0">
                <a:solidFill>
                  <a:srgbClr val="17233F"/>
                </a:solidFill>
                <a:latin typeface="Cambria" pitchFamily="34" charset="0"/>
                <a:ea typeface="Cambria" pitchFamily="34" charset="-122"/>
                <a:cs typeface="Cambria" pitchFamily="34" charset="-120"/>
              </a:rPr>
              <a:t>Safer Accounts</a:t>
            </a:r>
            <a:endParaRPr lang="en-US" sz="1400" dirty="0"/>
          </a:p>
        </p:txBody>
      </p:sp>
      <p:sp>
        <p:nvSpPr>
          <p:cNvPr id="13" name="Text 11"/>
          <p:cNvSpPr/>
          <p:nvPr/>
        </p:nvSpPr>
        <p:spPr>
          <a:xfrm>
            <a:off x="3451860" y="4480560"/>
            <a:ext cx="24460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6B7280"/>
                </a:solidFill>
                <a:latin typeface="Calibri" pitchFamily="34" charset="0"/>
                <a:ea typeface="Calibri" pitchFamily="34" charset="-122"/>
                <a:cs typeface="Calibri" pitchFamily="34" charset="-120"/>
              </a:rPr>
              <a:t>Fraud detection and instant OTP checks</a:t>
            </a:r>
            <a:endParaRPr lang="en-US" sz="1050" dirty="0"/>
          </a:p>
        </p:txBody>
      </p:sp>
      <p:sp>
        <p:nvSpPr>
          <p:cNvPr id="14" name="Shape 12"/>
          <p:cNvSpPr/>
          <p:nvPr/>
        </p:nvSpPr>
        <p:spPr>
          <a:xfrm>
            <a:off x="7258050" y="3520440"/>
            <a:ext cx="457200" cy="457200"/>
          </a:xfrm>
          <a:prstGeom prst="ellipse">
            <a:avLst/>
          </a:prstGeom>
          <a:solidFill>
            <a:srgbClr val="F85606"/>
          </a:solidFill>
          <a:ln/>
        </p:spPr>
      </p:sp>
      <p:sp>
        <p:nvSpPr>
          <p:cNvPr id="15" name="Text 13"/>
          <p:cNvSpPr/>
          <p:nvPr/>
        </p:nvSpPr>
        <p:spPr>
          <a:xfrm>
            <a:off x="7258050" y="3520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6172200" y="4114800"/>
            <a:ext cx="2628900" cy="365760"/>
          </a:xfrm>
          <a:prstGeom prst="rect">
            <a:avLst/>
          </a:prstGeom>
          <a:noFill/>
          <a:ln/>
        </p:spPr>
        <p:txBody>
          <a:bodyPr wrap="square" lIns="0" tIns="0" rIns="0" bIns="0" rtlCol="0" anchor="ctr"/>
          <a:lstStyle/>
          <a:p>
            <a:pPr algn="ctr" indent="0" marL="0">
              <a:buNone/>
            </a:pPr>
            <a:r>
              <a:rPr lang="en-US" sz="1400" b="1" dirty="0">
                <a:solidFill>
                  <a:srgbClr val="17233F"/>
                </a:solidFill>
                <a:latin typeface="Cambria" pitchFamily="34" charset="0"/>
                <a:ea typeface="Cambria" pitchFamily="34" charset="-122"/>
                <a:cs typeface="Cambria" pitchFamily="34" charset="-120"/>
              </a:rPr>
              <a:t>Clearer Delivery</a:t>
            </a:r>
            <a:endParaRPr lang="en-US" sz="1400" dirty="0"/>
          </a:p>
        </p:txBody>
      </p:sp>
      <p:sp>
        <p:nvSpPr>
          <p:cNvPr id="17" name="Text 15"/>
          <p:cNvSpPr/>
          <p:nvPr/>
        </p:nvSpPr>
        <p:spPr>
          <a:xfrm>
            <a:off x="6263640" y="4480560"/>
            <a:ext cx="24460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6B7280"/>
                </a:solidFill>
                <a:latin typeface="Calibri" pitchFamily="34" charset="0"/>
                <a:ea typeface="Calibri" pitchFamily="34" charset="-122"/>
                <a:cs typeface="Calibri" pitchFamily="34" charset="-120"/>
              </a:rPr>
              <a:t>Proof of delivery ends false disputes</a:t>
            </a:r>
            <a:endParaRPr lang="en-US" sz="1050" dirty="0"/>
          </a:p>
        </p:txBody>
      </p:sp>
      <p:sp>
        <p:nvSpPr>
          <p:cNvPr id="18" name="Shape 16"/>
          <p:cNvSpPr/>
          <p:nvPr/>
        </p:nvSpPr>
        <p:spPr>
          <a:xfrm>
            <a:off x="10069830" y="3520440"/>
            <a:ext cx="457200" cy="457200"/>
          </a:xfrm>
          <a:prstGeom prst="ellipse">
            <a:avLst/>
          </a:prstGeom>
          <a:solidFill>
            <a:srgbClr val="F85606"/>
          </a:solidFill>
          <a:ln/>
        </p:spPr>
      </p:sp>
      <p:sp>
        <p:nvSpPr>
          <p:cNvPr id="19" name="Text 17"/>
          <p:cNvSpPr/>
          <p:nvPr/>
        </p:nvSpPr>
        <p:spPr>
          <a:xfrm>
            <a:off x="10069830" y="3520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8983980" y="4114800"/>
            <a:ext cx="2628900" cy="365760"/>
          </a:xfrm>
          <a:prstGeom prst="rect">
            <a:avLst/>
          </a:prstGeom>
          <a:noFill/>
          <a:ln/>
        </p:spPr>
        <p:txBody>
          <a:bodyPr wrap="square" lIns="0" tIns="0" rIns="0" bIns="0" rtlCol="0" anchor="ctr"/>
          <a:lstStyle/>
          <a:p>
            <a:pPr algn="ctr" indent="0" marL="0">
              <a:buNone/>
            </a:pPr>
            <a:r>
              <a:rPr lang="en-US" sz="1400" b="1" dirty="0">
                <a:solidFill>
                  <a:srgbClr val="17233F"/>
                </a:solidFill>
                <a:latin typeface="Cambria" pitchFamily="34" charset="0"/>
                <a:ea typeface="Cambria" pitchFamily="34" charset="-122"/>
                <a:cs typeface="Cambria" pitchFamily="34" charset="-120"/>
              </a:rPr>
              <a:t>Faster Refunds</a:t>
            </a:r>
            <a:endParaRPr lang="en-US" sz="1400" dirty="0"/>
          </a:p>
        </p:txBody>
      </p:sp>
      <p:sp>
        <p:nvSpPr>
          <p:cNvPr id="21" name="Text 19"/>
          <p:cNvSpPr/>
          <p:nvPr/>
        </p:nvSpPr>
        <p:spPr>
          <a:xfrm>
            <a:off x="9075420" y="4480560"/>
            <a:ext cx="24460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6B7280"/>
                </a:solidFill>
                <a:latin typeface="Calibri" pitchFamily="34" charset="0"/>
                <a:ea typeface="Calibri" pitchFamily="34" charset="-122"/>
                <a:cs typeface="Calibri" pitchFamily="34" charset="-120"/>
              </a:rPr>
              <a:t>Trackable status with digital receipts</a:t>
            </a:r>
            <a:endParaRPr lang="en-US" sz="1050" dirty="0"/>
          </a:p>
        </p:txBody>
      </p:sp>
      <p:sp>
        <p:nvSpPr>
          <p:cNvPr id="22" name="Text 20"/>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23" name="Text 21"/>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33F"/>
        </a:solidFill>
      </p:bgPr>
    </p:bg>
    <p:spTree>
      <p:nvGrpSpPr>
        <p:cNvPr id="1" name=""/>
        <p:cNvGrpSpPr/>
        <p:nvPr/>
      </p:nvGrpSpPr>
      <p:grpSpPr>
        <a:xfrm>
          <a:off x="0" y="0"/>
          <a:ext cx="0" cy="0"/>
          <a:chOff x="0" y="0"/>
          <a:chExt cx="0" cy="0"/>
        </a:xfrm>
      </p:grpSpPr>
      <p:sp>
        <p:nvSpPr>
          <p:cNvPr id="2" name="Shape 0"/>
          <p:cNvSpPr/>
          <p:nvPr/>
        </p:nvSpPr>
        <p:spPr>
          <a:xfrm>
            <a:off x="8778240" y="-2377440"/>
            <a:ext cx="6400800" cy="6400800"/>
          </a:xfrm>
          <a:prstGeom prst="ellipse">
            <a:avLst/>
          </a:prstGeom>
          <a:solidFill>
            <a:srgbClr val="212F52"/>
          </a:solidFill>
          <a:ln/>
        </p:spPr>
      </p:sp>
      <p:sp>
        <p:nvSpPr>
          <p:cNvPr id="3" name="Text 1"/>
          <p:cNvSpPr/>
          <p:nvPr/>
        </p:nvSpPr>
        <p:spPr>
          <a:xfrm>
            <a:off x="640080" y="2286000"/>
            <a:ext cx="9144000" cy="457200"/>
          </a:xfrm>
          <a:prstGeom prst="rect">
            <a:avLst/>
          </a:prstGeom>
          <a:noFill/>
          <a:ln/>
        </p:spPr>
        <p:txBody>
          <a:bodyPr wrap="square" lIns="0" tIns="0" rIns="0" bIns="0" rtlCol="0" anchor="ctr"/>
          <a:lstStyle/>
          <a:p>
            <a:pPr indent="0" marL="0">
              <a:buNone/>
            </a:pPr>
            <a:r>
              <a:rPr lang="en-US" sz="1400" b="1" spc="200" kern="0" dirty="0">
                <a:solidFill>
                  <a:srgbClr val="F85606"/>
                </a:solidFill>
                <a:latin typeface="Calibri" pitchFamily="34" charset="0"/>
                <a:ea typeface="Calibri" pitchFamily="34" charset="-122"/>
                <a:cs typeface="Calibri" pitchFamily="34" charset="-120"/>
              </a:rPr>
              <a:t>THANK YOU</a:t>
            </a:r>
            <a:endParaRPr lang="en-US" sz="1400" dirty="0"/>
          </a:p>
        </p:txBody>
      </p:sp>
      <p:sp>
        <p:nvSpPr>
          <p:cNvPr id="4" name="Text 2"/>
          <p:cNvSpPr/>
          <p:nvPr/>
        </p:nvSpPr>
        <p:spPr>
          <a:xfrm>
            <a:off x="640080" y="2697480"/>
            <a:ext cx="91440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5" name="Text 3"/>
          <p:cNvSpPr/>
          <p:nvPr/>
        </p:nvSpPr>
        <p:spPr>
          <a:xfrm>
            <a:off x="640080" y="3886200"/>
            <a:ext cx="10058400" cy="457200"/>
          </a:xfrm>
          <a:prstGeom prst="rect">
            <a:avLst/>
          </a:prstGeom>
          <a:noFill/>
          <a:ln/>
        </p:spPr>
        <p:txBody>
          <a:bodyPr wrap="square" lIns="0" tIns="0" rIns="0" bIns="0" rtlCol="0" anchor="ctr"/>
          <a:lstStyle/>
          <a:p>
            <a:pPr indent="0" marL="0">
              <a:buNone/>
            </a:pPr>
            <a:r>
              <a:rPr lang="en-US" sz="1300" dirty="0">
                <a:solidFill>
                  <a:srgbClr val="AAB4C8"/>
                </a:solidFill>
                <a:latin typeface="Calibri" pitchFamily="34" charset="0"/>
                <a:ea typeface="Calibri" pitchFamily="34" charset="-122"/>
                <a:cs typeface="Calibri" pitchFamily="34" charset="-120"/>
              </a:rPr>
              <a:t>Group 05  ·  Md. Abdullah Al Afif · Md. Ajijul Hakim Sarkar · Aronno Chakrabartti · Ishrat Jahan Sharmin</a:t>
            </a:r>
            <a:endParaRPr lang="en-US" sz="1300" dirty="0"/>
          </a:p>
        </p:txBody>
      </p:sp>
      <p:sp>
        <p:nvSpPr>
          <p:cNvPr id="6" name="Text 4"/>
          <p:cNvSpPr/>
          <p:nvPr/>
        </p:nvSpPr>
        <p:spPr>
          <a:xfrm>
            <a:off x="640080" y="4434840"/>
            <a:ext cx="7315200" cy="365760"/>
          </a:xfrm>
          <a:prstGeom prst="rect">
            <a:avLst/>
          </a:prstGeom>
          <a:noFill/>
          <a:ln/>
        </p:spPr>
        <p:txBody>
          <a:bodyPr wrap="square" lIns="0" tIns="0" rIns="0" bIns="0" rtlCol="0" anchor="ctr"/>
          <a:lstStyle/>
          <a:p>
            <a:pPr indent="0" marL="0">
              <a:buNone/>
            </a:pPr>
            <a:r>
              <a:rPr lang="en-US" sz="1400" b="1" dirty="0">
                <a:solidFill>
                  <a:srgbClr val="F85606"/>
                </a:solidFill>
                <a:latin typeface="Calibri" pitchFamily="34" charset="0"/>
                <a:ea typeface="Calibri" pitchFamily="34" charset="-122"/>
                <a:cs typeface="Calibri" pitchFamily="34" charset="-120"/>
              </a:rPr>
              <a:t>daraz-sad.vercel.app</a:t>
            </a:r>
            <a:endParaRPr lang="en-US" sz="14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algn="l" indent="0" marL="0">
              <a:buNone/>
            </a:pPr>
            <a:r>
              <a:rPr lang="en-US" sz="900" dirty="0">
                <a:solidFill>
                  <a:srgbClr val="AAB4C8"/>
                </a:solidFill>
                <a:latin typeface="Calibri" pitchFamily="34" charset="0"/>
                <a:ea typeface="Calibri" pitchFamily="34" charset="-122"/>
                <a:cs typeface="Calibri" pitchFamily="34" charset="-120"/>
              </a:rPr>
              <a:t>Group 05  ·  Daraz Bangladesh — System Analysis &amp; Design</a:t>
            </a:r>
            <a:endParaRPr lang="en-US" sz="900" dirty="0"/>
          </a:p>
        </p:txBody>
      </p:sp>
      <p:sp>
        <p:nvSpPr>
          <p:cNvPr id="8" name="Text 6"/>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AAB4C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2026-09-18T10:48:15Z</dcterms:created>
  <dcterms:modified xsi:type="dcterms:W3CDTF">2026-09-18T10:48:15Z</dcterms:modified>
</cp:coreProperties>
</file>